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video/mp4" Extension="mp4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Open Sans Bold" charset="1" panose="00000000000000000000"/>
      <p:regular r:id="rId18"/>
    </p:embeddedFont>
    <p:embeddedFont>
      <p:font typeface="Montserrat Bold" charset="1" panose="00000800000000000000"/>
      <p:regular r:id="rId19"/>
    </p:embeddedFont>
    <p:embeddedFont>
      <p:font typeface="Open Sans" charset="1" panose="0000000000000000000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VAHYbP377_k.mp4" Type="http://schemas.openxmlformats.org/officeDocument/2006/relationships/video"/><Relationship Id="rId4" Target="../media/VAHYbP377_k.mp4" Type="http://schemas.microsoft.com/office/2007/relationships/media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25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810750" y="0"/>
            <a:ext cx="8477250" cy="10287000"/>
          </a:xfrm>
          <a:custGeom>
            <a:avLst/>
            <a:gdLst/>
            <a:ahLst/>
            <a:cxnLst/>
            <a:rect r="r" b="b" t="t" l="l"/>
            <a:pathLst>
              <a:path h="10287000" w="8477250">
                <a:moveTo>
                  <a:pt x="0" y="0"/>
                </a:moveTo>
                <a:lnTo>
                  <a:pt x="8477250" y="0"/>
                </a:lnTo>
                <a:lnTo>
                  <a:pt x="847725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9" r="0" b="-19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3" id="3"/>
          <p:cNvGrpSpPr/>
          <p:nvPr/>
        </p:nvGrpSpPr>
        <p:grpSpPr>
          <a:xfrm rot="0">
            <a:off x="8763000" y="0"/>
            <a:ext cx="2155902" cy="10287000"/>
            <a:chOff x="0" y="0"/>
            <a:chExt cx="2874537" cy="13716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874537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874537">
                  <a:moveTo>
                    <a:pt x="0" y="0"/>
                  </a:moveTo>
                  <a:lnTo>
                    <a:pt x="2874537" y="0"/>
                  </a:lnTo>
                  <a:lnTo>
                    <a:pt x="2874537" y="13716000"/>
                  </a:lnTo>
                  <a:lnTo>
                    <a:pt x="0" y="13716000"/>
                  </a:lnTo>
                  <a:close/>
                </a:path>
              </a:pathLst>
            </a:custGeom>
            <a:gradFill rotWithShape="true">
              <a:gsLst>
                <a:gs pos="0">
                  <a:srgbClr val="0F2523">
                    <a:alpha val="100000"/>
                  </a:srgbClr>
                </a:gs>
                <a:gs pos="100000">
                  <a:srgbClr val="0F2523">
                    <a:alpha val="0"/>
                  </a:srgbClr>
                </a:gs>
              </a:gsLst>
              <a:lin ang="16200000"/>
            </a:gra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874537" cy="137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952500" y="1114425"/>
            <a:ext cx="742950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120" b="true">
                <a:solidFill>
                  <a:srgbClr val="BFE8D9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PROYECTO APT · INFORME DE AVANCE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52500" y="2124075"/>
            <a:ext cx="8572500" cy="1150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820"/>
              </a:lnSpc>
            </a:pPr>
            <a:r>
              <a:rPr lang="en-US" sz="840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Nutri</a:t>
            </a:r>
            <a:r>
              <a:rPr lang="en-US" sz="8400" b="true">
                <a:solidFill>
                  <a:srgbClr val="00A87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Find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52500" y="3571875"/>
            <a:ext cx="8572500" cy="11593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35"/>
              </a:lnSpc>
            </a:pPr>
            <a:r>
              <a:rPr lang="en-US" sz="4199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Búsqueda y comparación de alimentos especializados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952500" y="7239000"/>
            <a:ext cx="1428750" cy="76200"/>
            <a:chOff x="0" y="0"/>
            <a:chExt cx="1905000" cy="1016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905000" cy="101600"/>
            </a:xfrm>
            <a:custGeom>
              <a:avLst/>
              <a:gdLst/>
              <a:ahLst/>
              <a:cxnLst/>
              <a:rect r="r" b="b" t="t" l="l"/>
              <a:pathLst>
                <a:path h="101600" w="1905000">
                  <a:moveTo>
                    <a:pt x="0" y="0"/>
                  </a:moveTo>
                  <a:lnTo>
                    <a:pt x="1905000" y="0"/>
                  </a:lnTo>
                  <a:lnTo>
                    <a:pt x="19050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rgbClr val="00A878"/>
            </a:solidFill>
            <a:ln cap="sq">
              <a:noFill/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1905000" cy="139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952500" y="7781925"/>
            <a:ext cx="6667500" cy="802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239"/>
              </a:lnSpc>
              <a:spcBef>
                <a:spcPct val="0"/>
              </a:spcBef>
            </a:pPr>
            <a:r>
              <a:rPr lang="en-US" sz="2399" strike="noStrike" u="none">
                <a:solidFill>
                  <a:srgbClr val="BFE8D9"/>
                </a:solidFill>
                <a:latin typeface="Open Sans"/>
                <a:ea typeface="Open Sans"/>
                <a:cs typeface="Open Sans"/>
                <a:sym typeface="Open Sans"/>
              </a:rPr>
              <a:t>Pedro Mallea · Martín Muñoz · Iván Sepulveda | Docente: Felipe Krauss · Duoc UC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668000" y="0"/>
            <a:ext cx="7620000" cy="10287000"/>
          </a:xfrm>
          <a:custGeom>
            <a:avLst/>
            <a:gdLst/>
            <a:ahLst/>
            <a:cxnLst/>
            <a:rect r="r" b="b" t="t" l="l"/>
            <a:pathLst>
              <a:path h="10287000" w="7620000">
                <a:moveTo>
                  <a:pt x="0" y="0"/>
                </a:moveTo>
                <a:lnTo>
                  <a:pt x="7620000" y="0"/>
                </a:lnTo>
                <a:lnTo>
                  <a:pt x="7620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50" r="0" b="-5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3" id="3"/>
          <p:cNvSpPr txBox="true"/>
          <p:nvPr/>
        </p:nvSpPr>
        <p:spPr>
          <a:xfrm rot="0">
            <a:off x="952500" y="942975"/>
            <a:ext cx="8572500" cy="4598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4"/>
              </a:lnSpc>
            </a:pPr>
            <a:r>
              <a:rPr lang="en-US" sz="3300" b="true">
                <a:solidFill>
                  <a:srgbClr val="13252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El costo real no está solo en la etiqueta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00676" y="2280995"/>
            <a:ext cx="9276148" cy="26132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88"/>
              </a:lnSpc>
              <a:spcBef>
                <a:spcPct val="0"/>
              </a:spcBef>
            </a:pPr>
            <a:r>
              <a:rPr lang="en-US" sz="2491" strike="noStrike" u="none">
                <a:solidFill>
                  <a:srgbClr val="132522"/>
                </a:solidFill>
                <a:latin typeface="Open Sans"/>
                <a:ea typeface="Open Sans"/>
                <a:cs typeface="Open Sans"/>
                <a:sym typeface="Open Sans"/>
              </a:rPr>
              <a:t>En Chile, el 92,8% de las personas con restricciones alimentarias ve el precio como barrera crítica y el 67,8% sufre falta de datos sobre alérgenos al comprar online (Estudio SERNAC &amp; INTA U. de Chile). Una canasta sin gluten cuesta +89% (Fundación Convivir) y panificados hasta +270% (INTA, 2024).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52500" y="5915025"/>
            <a:ext cx="1428750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75"/>
              </a:lnSpc>
            </a:pPr>
            <a:r>
              <a:rPr lang="en-US" sz="7500" b="true">
                <a:solidFill>
                  <a:srgbClr val="00A87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$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52500" y="6996589"/>
            <a:ext cx="3143250" cy="8410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42"/>
              </a:lnSpc>
              <a:spcBef>
                <a:spcPct val="0"/>
              </a:spcBef>
            </a:pPr>
            <a:r>
              <a:rPr lang="en-US" b="true" sz="1950" strike="noStrike" u="none">
                <a:solidFill>
                  <a:srgbClr val="13252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+89% canasta y +270% panificados </a:t>
            </a:r>
          </a:p>
          <a:p>
            <a:pPr algn="l" marL="0" indent="0" lvl="0">
              <a:lnSpc>
                <a:spcPts val="2242"/>
              </a:lnSpc>
              <a:spcBef>
                <a:spcPct val="0"/>
              </a:spcBef>
            </a:pPr>
            <a:r>
              <a:rPr lang="en-US" b="true" sz="1950" strike="noStrike" u="none">
                <a:solidFill>
                  <a:srgbClr val="13252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(F. Convivir / INTA)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762500" y="5915025"/>
            <a:ext cx="1428750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75"/>
              </a:lnSpc>
            </a:pPr>
            <a:r>
              <a:rPr lang="en-US" sz="7500" b="true">
                <a:solidFill>
                  <a:srgbClr val="00A87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⌕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762500" y="6962775"/>
            <a:ext cx="3798384" cy="918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415"/>
              </a:lnSpc>
              <a:spcBef>
                <a:spcPct val="0"/>
              </a:spcBef>
            </a:pPr>
            <a:r>
              <a:rPr lang="en-US" b="true" sz="2100" strike="noStrike" u="none">
                <a:solidFill>
                  <a:srgbClr val="13252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67,8% sin filtros de alérgenos online y stock disperso (SERNAC &amp; INTA)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F4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52500" y="819150"/>
            <a:ext cx="12382500" cy="5996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98"/>
              </a:lnSpc>
            </a:pPr>
            <a:r>
              <a:rPr lang="en-US" sz="4350" b="true">
                <a:solidFill>
                  <a:srgbClr val="13252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Comparación inteligente, en tiempo real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52500" y="1543050"/>
            <a:ext cx="11430000" cy="340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sz="2100">
                <a:solidFill>
                  <a:srgbClr val="61716E"/>
                </a:solidFill>
                <a:latin typeface="Open Sans"/>
                <a:ea typeface="Open Sans"/>
                <a:cs typeface="Open Sans"/>
                <a:sym typeface="Open Sans"/>
              </a:rPr>
              <a:t>Una canalización de datos convierte oferta dispersa en decisiones comparables.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952500" y="2976562"/>
            <a:ext cx="15573375" cy="4333875"/>
            <a:chOff x="0" y="0"/>
            <a:chExt cx="20764500" cy="5778500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0" y="0"/>
              <a:ext cx="6350000" cy="5778500"/>
              <a:chOff x="0" y="0"/>
              <a:chExt cx="6350000" cy="5778500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6350000" cy="5778500"/>
              </a:xfrm>
              <a:custGeom>
                <a:avLst/>
                <a:gdLst/>
                <a:ahLst/>
                <a:cxnLst/>
                <a:rect r="r" b="b" t="t" l="l"/>
                <a:pathLst>
                  <a:path h="5778500" w="6350000">
                    <a:moveTo>
                      <a:pt x="0" y="0"/>
                    </a:moveTo>
                    <a:lnTo>
                      <a:pt x="6350000" y="0"/>
                    </a:lnTo>
                    <a:lnTo>
                      <a:pt x="6350000" y="5778500"/>
                    </a:lnTo>
                    <a:lnTo>
                      <a:pt x="0" y="5778500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00A878"/>
                </a:solidFill>
                <a:prstDash val="solid"/>
                <a:miter/>
              </a:ln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38100"/>
                <a:ext cx="6350000" cy="5816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8" id="8"/>
            <p:cNvSpPr txBox="true"/>
            <p:nvPr/>
          </p:nvSpPr>
          <p:spPr>
            <a:xfrm rot="0">
              <a:off x="762000" y="638175"/>
              <a:ext cx="1270000" cy="8058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567"/>
                </a:lnSpc>
              </a:pPr>
              <a:r>
                <a:rPr lang="en-US" sz="4350" b="true">
                  <a:solidFill>
                    <a:srgbClr val="00A878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01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762000" y="2295525"/>
              <a:ext cx="4953000" cy="5073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32"/>
                </a:lnSpc>
              </a:pPr>
              <a:r>
                <a:rPr lang="en-US" sz="2550" b="true">
                  <a:solidFill>
                    <a:srgbClr val="132522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Extracción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762000" y="3136900"/>
              <a:ext cx="4953000" cy="8636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625"/>
                </a:lnSpc>
                <a:spcBef>
                  <a:spcPct val="0"/>
                </a:spcBef>
              </a:pPr>
              <a:r>
                <a:rPr lang="en-US" sz="1875" strike="noStrike" u="none">
                  <a:solidFill>
                    <a:srgbClr val="132522"/>
                  </a:solidFill>
                  <a:latin typeface="Open Sans"/>
                  <a:ea typeface="Open Sans"/>
                  <a:cs typeface="Open Sans"/>
                  <a:sym typeface="Open Sans"/>
                </a:rPr>
                <a:t>Cloudscraper + BeautifulSoup4 multi-tienda</a:t>
              </a:r>
            </a:p>
          </p:txBody>
        </p:sp>
        <p:sp>
          <p:nvSpPr>
            <p:cNvPr name="AutoShape 11" id="11"/>
            <p:cNvSpPr/>
            <p:nvPr/>
          </p:nvSpPr>
          <p:spPr>
            <a:xfrm>
              <a:off x="6604000" y="2698750"/>
              <a:ext cx="381000" cy="0"/>
            </a:xfrm>
            <a:prstGeom prst="line">
              <a:avLst/>
            </a:prstGeom>
            <a:ln cap="rnd" w="63500">
              <a:solidFill>
                <a:srgbClr val="00A878"/>
              </a:solidFill>
              <a:prstDash val="solid"/>
              <a:headEnd type="none" len="sm" w="sm"/>
              <a:tailEnd type="none" len="sm" w="sm"/>
            </a:ln>
          </p:spPr>
        </p:sp>
        <p:grpSp>
          <p:nvGrpSpPr>
            <p:cNvPr name="Group 12" id="12"/>
            <p:cNvGrpSpPr/>
            <p:nvPr/>
          </p:nvGrpSpPr>
          <p:grpSpPr>
            <a:xfrm rot="0">
              <a:off x="7207250" y="0"/>
              <a:ext cx="6350000" cy="5778500"/>
              <a:chOff x="0" y="0"/>
              <a:chExt cx="6350000" cy="577850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6350000" cy="5778500"/>
              </a:xfrm>
              <a:custGeom>
                <a:avLst/>
                <a:gdLst/>
                <a:ahLst/>
                <a:cxnLst/>
                <a:rect r="r" b="b" t="t" l="l"/>
                <a:pathLst>
                  <a:path h="5778500" w="6350000">
                    <a:moveTo>
                      <a:pt x="0" y="0"/>
                    </a:moveTo>
                    <a:lnTo>
                      <a:pt x="6350000" y="0"/>
                    </a:lnTo>
                    <a:lnTo>
                      <a:pt x="6350000" y="5778500"/>
                    </a:lnTo>
                    <a:lnTo>
                      <a:pt x="0" y="5778500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00A878"/>
                </a:solidFill>
                <a:prstDash val="solid"/>
                <a:miter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38100"/>
                <a:ext cx="6350000" cy="5816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5" id="15"/>
            <p:cNvSpPr txBox="true"/>
            <p:nvPr/>
          </p:nvSpPr>
          <p:spPr>
            <a:xfrm rot="0">
              <a:off x="7874000" y="638175"/>
              <a:ext cx="1270000" cy="8058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567"/>
                </a:lnSpc>
              </a:pPr>
              <a:r>
                <a:rPr lang="en-US" sz="4350" b="true">
                  <a:solidFill>
                    <a:srgbClr val="00A878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02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7874000" y="2295525"/>
              <a:ext cx="4953000" cy="5073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32"/>
                </a:lnSpc>
              </a:pPr>
              <a:r>
                <a:rPr lang="en-US" sz="2550" b="true">
                  <a:solidFill>
                    <a:srgbClr val="132522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Normalización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7874000" y="3136900"/>
              <a:ext cx="4953000" cy="8636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625"/>
                </a:lnSpc>
                <a:spcBef>
                  <a:spcPct val="0"/>
                </a:spcBef>
              </a:pPr>
              <a:r>
                <a:rPr lang="en-US" sz="1875" strike="noStrike" u="none">
                  <a:solidFill>
                    <a:srgbClr val="132522"/>
                  </a:solidFill>
                  <a:latin typeface="Open Sans"/>
                  <a:ea typeface="Open Sans"/>
                  <a:cs typeface="Open Sans"/>
                  <a:sym typeface="Open Sans"/>
                </a:rPr>
                <a:t>Polars + PostgreSQL / Supabase + JSONB</a:t>
              </a:r>
            </a:p>
          </p:txBody>
        </p:sp>
        <p:sp>
          <p:nvSpPr>
            <p:cNvPr name="AutoShape 18" id="18"/>
            <p:cNvSpPr/>
            <p:nvPr/>
          </p:nvSpPr>
          <p:spPr>
            <a:xfrm>
              <a:off x="13779500" y="2667000"/>
              <a:ext cx="381000" cy="0"/>
            </a:xfrm>
            <a:prstGeom prst="line">
              <a:avLst/>
            </a:prstGeom>
            <a:ln cap="rnd" w="63500">
              <a:solidFill>
                <a:srgbClr val="00A878"/>
              </a:solidFill>
              <a:prstDash val="solid"/>
              <a:headEnd type="none" len="sm" w="sm"/>
              <a:tailEnd type="none" len="sm" w="sm"/>
            </a:ln>
          </p:spPr>
        </p:sp>
        <p:grpSp>
          <p:nvGrpSpPr>
            <p:cNvPr name="Group 19" id="19"/>
            <p:cNvGrpSpPr/>
            <p:nvPr/>
          </p:nvGrpSpPr>
          <p:grpSpPr>
            <a:xfrm rot="0">
              <a:off x="14414500" y="0"/>
              <a:ext cx="6350000" cy="5778500"/>
              <a:chOff x="0" y="0"/>
              <a:chExt cx="6350000" cy="5778500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6350000" cy="5778500"/>
              </a:xfrm>
              <a:custGeom>
                <a:avLst/>
                <a:gdLst/>
                <a:ahLst/>
                <a:cxnLst/>
                <a:rect r="r" b="b" t="t" l="l"/>
                <a:pathLst>
                  <a:path h="5778500" w="6350000">
                    <a:moveTo>
                      <a:pt x="0" y="0"/>
                    </a:moveTo>
                    <a:lnTo>
                      <a:pt x="6350000" y="0"/>
                    </a:lnTo>
                    <a:lnTo>
                      <a:pt x="6350000" y="5778500"/>
                    </a:lnTo>
                    <a:lnTo>
                      <a:pt x="0" y="5778500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00A878"/>
                </a:solidFill>
                <a:prstDash val="solid"/>
                <a:miter/>
              </a:ln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-38100"/>
                <a:ext cx="6350000" cy="5816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2" id="22"/>
            <p:cNvSpPr txBox="true"/>
            <p:nvPr/>
          </p:nvSpPr>
          <p:spPr>
            <a:xfrm rot="0">
              <a:off x="14986000" y="638175"/>
              <a:ext cx="1270000" cy="8058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567"/>
                </a:lnSpc>
              </a:pPr>
              <a:r>
                <a:rPr lang="en-US" sz="4350" b="true">
                  <a:solidFill>
                    <a:srgbClr val="00A878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03</a:t>
              </a:r>
            </a:p>
          </p:txBody>
        </p:sp>
        <p:sp>
          <p:nvSpPr>
            <p:cNvPr name="TextBox 23" id="23"/>
            <p:cNvSpPr txBox="true"/>
            <p:nvPr/>
          </p:nvSpPr>
          <p:spPr>
            <a:xfrm rot="0">
              <a:off x="14986000" y="2295525"/>
              <a:ext cx="4953000" cy="5073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32"/>
                </a:lnSpc>
              </a:pPr>
              <a:r>
                <a:rPr lang="en-US" sz="2550" b="true">
                  <a:solidFill>
                    <a:srgbClr val="132522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Comparación</a:t>
              </a:r>
            </a:p>
          </p:txBody>
        </p:sp>
        <p:sp>
          <p:nvSpPr>
            <p:cNvPr name="TextBox 24" id="24"/>
            <p:cNvSpPr txBox="true"/>
            <p:nvPr/>
          </p:nvSpPr>
          <p:spPr>
            <a:xfrm rot="0">
              <a:off x="14986000" y="3136900"/>
              <a:ext cx="4953000" cy="8636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625"/>
                </a:lnSpc>
                <a:spcBef>
                  <a:spcPct val="0"/>
                </a:spcBef>
              </a:pPr>
              <a:r>
                <a:rPr lang="en-US" sz="1875" strike="noStrike" u="none">
                  <a:solidFill>
                    <a:srgbClr val="132522"/>
                  </a:solidFill>
                  <a:latin typeface="Open Sans"/>
                  <a:ea typeface="Open Sans"/>
                  <a:cs typeface="Open Sans"/>
                  <a:sym typeface="Open Sans"/>
                </a:rPr>
                <a:t>Astro + FastAPI · Redirección url_origen (≈70% menos tiempo)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F4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52500" y="819150"/>
            <a:ext cx="12382500" cy="5996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98"/>
              </a:lnSpc>
            </a:pPr>
            <a:r>
              <a:rPr lang="en-US" sz="4350" b="true">
                <a:solidFill>
                  <a:srgbClr val="13252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Competencias que se vuelven evidencia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52500" y="1543050"/>
            <a:ext cx="12382500" cy="340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sz="2100">
                <a:solidFill>
                  <a:srgbClr val="61716E"/>
                </a:solidFill>
                <a:latin typeface="Open Sans"/>
                <a:ea typeface="Open Sans"/>
                <a:cs typeface="Open Sans"/>
                <a:sym typeface="Open Sans"/>
              </a:rPr>
              <a:t>Cuatro dimensiones del perfil de egreso aplicadas a un producto verificable.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952500" y="2857500"/>
            <a:ext cx="7239000" cy="2476500"/>
            <a:chOff x="0" y="0"/>
            <a:chExt cx="9652000" cy="3302000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0" y="0"/>
              <a:ext cx="9652000" cy="3302000"/>
              <a:chOff x="0" y="0"/>
              <a:chExt cx="9652000" cy="3302000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9652000" cy="3302000"/>
              </a:xfrm>
              <a:custGeom>
                <a:avLst/>
                <a:gdLst/>
                <a:ahLst/>
                <a:cxnLst/>
                <a:rect r="r" b="b" t="t" l="l"/>
                <a:pathLst>
                  <a:path h="3302000" w="9652000">
                    <a:moveTo>
                      <a:pt x="0" y="0"/>
                    </a:moveTo>
                    <a:lnTo>
                      <a:pt x="9652000" y="0"/>
                    </a:lnTo>
                    <a:lnTo>
                      <a:pt x="9652000" y="3302000"/>
                    </a:lnTo>
                    <a:lnTo>
                      <a:pt x="0" y="3302000"/>
                    </a:lnTo>
                    <a:close/>
                  </a:path>
                </a:pathLst>
              </a:custGeom>
              <a:solidFill>
                <a:srgbClr val="BFE8D9"/>
              </a:solidFill>
              <a:ln w="9525" cap="sq">
                <a:solidFill>
                  <a:srgbClr val="CBD8D3"/>
                </a:solidFill>
                <a:prstDash val="solid"/>
                <a:miter/>
              </a:ln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38100"/>
                <a:ext cx="9652000" cy="3340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8" id="8"/>
            <p:cNvSpPr txBox="true"/>
            <p:nvPr/>
          </p:nvSpPr>
          <p:spPr>
            <a:xfrm rot="0">
              <a:off x="698500" y="708025"/>
              <a:ext cx="8255000" cy="5073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32"/>
                </a:lnSpc>
              </a:pPr>
              <a:r>
                <a:rPr lang="en-US" sz="2550" b="true">
                  <a:solidFill>
                    <a:srgbClr val="132522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Desarrollo de software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698500" y="1612900"/>
              <a:ext cx="8255000" cy="4191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625"/>
                </a:lnSpc>
                <a:spcBef>
                  <a:spcPct val="0"/>
                </a:spcBef>
              </a:pPr>
              <a:r>
                <a:rPr lang="en-US" sz="1875" strike="noStrike" u="none">
                  <a:solidFill>
                    <a:srgbClr val="132522"/>
                  </a:solidFill>
                  <a:latin typeface="Open Sans"/>
                  <a:ea typeface="Open Sans"/>
                  <a:cs typeface="Open Sans"/>
                  <a:sym typeface="Open Sans"/>
                </a:rPr>
                <a:t>Astro 7, Tailwind, React 19 y FastAPI en Cloudflare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9144000" y="2857500"/>
            <a:ext cx="7239000" cy="2476500"/>
            <a:chOff x="0" y="0"/>
            <a:chExt cx="9652000" cy="3302000"/>
          </a:xfrm>
        </p:grpSpPr>
        <p:grpSp>
          <p:nvGrpSpPr>
            <p:cNvPr name="Group 11" id="11"/>
            <p:cNvGrpSpPr/>
            <p:nvPr/>
          </p:nvGrpSpPr>
          <p:grpSpPr>
            <a:xfrm rot="0">
              <a:off x="0" y="0"/>
              <a:ext cx="9652000" cy="3302000"/>
              <a:chOff x="0" y="0"/>
              <a:chExt cx="9652000" cy="3302000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9652000" cy="3302000"/>
              </a:xfrm>
              <a:custGeom>
                <a:avLst/>
                <a:gdLst/>
                <a:ahLst/>
                <a:cxnLst/>
                <a:rect r="r" b="b" t="t" l="l"/>
                <a:pathLst>
                  <a:path h="3302000" w="9652000">
                    <a:moveTo>
                      <a:pt x="0" y="0"/>
                    </a:moveTo>
                    <a:lnTo>
                      <a:pt x="9652000" y="0"/>
                    </a:lnTo>
                    <a:lnTo>
                      <a:pt x="9652000" y="3302000"/>
                    </a:lnTo>
                    <a:lnTo>
                      <a:pt x="0" y="3302000"/>
                    </a:lnTo>
                    <a:close/>
                  </a:path>
                </a:pathLst>
              </a:custGeom>
              <a:solidFill>
                <a:srgbClr val="BFE8D9"/>
              </a:solidFill>
              <a:ln w="9525" cap="sq">
                <a:solidFill>
                  <a:srgbClr val="CBD8D3"/>
                </a:solidFill>
                <a:prstDash val="solid"/>
                <a:miter/>
              </a:ln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0" y="-38100"/>
                <a:ext cx="9652000" cy="3340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4" id="14"/>
            <p:cNvSpPr txBox="true"/>
            <p:nvPr/>
          </p:nvSpPr>
          <p:spPr>
            <a:xfrm rot="0">
              <a:off x="698500" y="708025"/>
              <a:ext cx="8255000" cy="5073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32"/>
                </a:lnSpc>
              </a:pPr>
              <a:r>
                <a:rPr lang="en-US" sz="2550" b="true">
                  <a:solidFill>
                    <a:srgbClr val="132522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Gestión de proyectos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698500" y="1612900"/>
              <a:ext cx="8255000" cy="4191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625"/>
                </a:lnSpc>
                <a:spcBef>
                  <a:spcPct val="0"/>
                </a:spcBef>
              </a:pPr>
              <a:r>
                <a:rPr lang="en-US" sz="1875" strike="noStrike" u="none">
                  <a:solidFill>
                    <a:srgbClr val="132522"/>
                  </a:solidFill>
                  <a:latin typeface="Open Sans"/>
                  <a:ea typeface="Open Sans"/>
                  <a:cs typeface="Open Sans"/>
                  <a:sym typeface="Open Sans"/>
                </a:rPr>
                <a:t>Scrum 5 Sprints, Poker Planning (60 pts) y Actas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952500" y="6000750"/>
            <a:ext cx="7239000" cy="2476500"/>
            <a:chOff x="0" y="0"/>
            <a:chExt cx="9652000" cy="3302000"/>
          </a:xfrm>
        </p:grpSpPr>
        <p:grpSp>
          <p:nvGrpSpPr>
            <p:cNvPr name="Group 17" id="17"/>
            <p:cNvGrpSpPr/>
            <p:nvPr/>
          </p:nvGrpSpPr>
          <p:grpSpPr>
            <a:xfrm rot="0">
              <a:off x="0" y="0"/>
              <a:ext cx="9652000" cy="3302000"/>
              <a:chOff x="0" y="0"/>
              <a:chExt cx="9652000" cy="3302000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9652000" cy="3302000"/>
              </a:xfrm>
              <a:custGeom>
                <a:avLst/>
                <a:gdLst/>
                <a:ahLst/>
                <a:cxnLst/>
                <a:rect r="r" b="b" t="t" l="l"/>
                <a:pathLst>
                  <a:path h="3302000" w="9652000">
                    <a:moveTo>
                      <a:pt x="0" y="0"/>
                    </a:moveTo>
                    <a:lnTo>
                      <a:pt x="9652000" y="0"/>
                    </a:lnTo>
                    <a:lnTo>
                      <a:pt x="9652000" y="3302000"/>
                    </a:lnTo>
                    <a:lnTo>
                      <a:pt x="0" y="3302000"/>
                    </a:lnTo>
                    <a:close/>
                  </a:path>
                </a:pathLst>
              </a:custGeom>
              <a:solidFill>
                <a:srgbClr val="BFE8D9"/>
              </a:solidFill>
              <a:ln w="9525" cap="sq">
                <a:solidFill>
                  <a:srgbClr val="CBD8D3"/>
                </a:solidFill>
                <a:prstDash val="solid"/>
                <a:miter/>
              </a:ln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0" y="-38100"/>
                <a:ext cx="9652000" cy="3340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0" id="20"/>
            <p:cNvSpPr txBox="true"/>
            <p:nvPr/>
          </p:nvSpPr>
          <p:spPr>
            <a:xfrm rot="0">
              <a:off x="698500" y="708025"/>
              <a:ext cx="8255000" cy="5073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32"/>
                </a:lnSpc>
              </a:pPr>
              <a:r>
                <a:rPr lang="en-US" sz="2550" b="true">
                  <a:solidFill>
                    <a:srgbClr val="132522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Datos e integración</a:t>
              </a:r>
            </a:p>
          </p:txBody>
        </p:sp>
        <p:sp>
          <p:nvSpPr>
            <p:cNvPr name="TextBox 21" id="21"/>
            <p:cNvSpPr txBox="true"/>
            <p:nvPr/>
          </p:nvSpPr>
          <p:spPr>
            <a:xfrm rot="0">
              <a:off x="698500" y="1612900"/>
              <a:ext cx="8255000" cy="4191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625"/>
                </a:lnSpc>
                <a:spcBef>
                  <a:spcPct val="0"/>
                </a:spcBef>
              </a:pPr>
              <a:r>
                <a:rPr lang="en-US" sz="1875" strike="noStrike" u="none">
                  <a:solidFill>
                    <a:srgbClr val="132522"/>
                  </a:solidFill>
                  <a:latin typeface="Open Sans"/>
                  <a:ea typeface="Open Sans"/>
                  <a:cs typeface="Open Sans"/>
                  <a:sym typeface="Open Sans"/>
                </a:rPr>
                <a:t>Modelo relacional Supabase, JSONB y políticas RLS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9144000" y="6000750"/>
            <a:ext cx="7239000" cy="2476500"/>
            <a:chOff x="0" y="0"/>
            <a:chExt cx="9652000" cy="3302000"/>
          </a:xfrm>
        </p:grpSpPr>
        <p:grpSp>
          <p:nvGrpSpPr>
            <p:cNvPr name="Group 23" id="23"/>
            <p:cNvGrpSpPr/>
            <p:nvPr/>
          </p:nvGrpSpPr>
          <p:grpSpPr>
            <a:xfrm rot="0">
              <a:off x="0" y="0"/>
              <a:ext cx="9652000" cy="3302000"/>
              <a:chOff x="0" y="0"/>
              <a:chExt cx="9652000" cy="3302000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9652000" cy="3302000"/>
              </a:xfrm>
              <a:custGeom>
                <a:avLst/>
                <a:gdLst/>
                <a:ahLst/>
                <a:cxnLst/>
                <a:rect r="r" b="b" t="t" l="l"/>
                <a:pathLst>
                  <a:path h="3302000" w="9652000">
                    <a:moveTo>
                      <a:pt x="0" y="0"/>
                    </a:moveTo>
                    <a:lnTo>
                      <a:pt x="9652000" y="0"/>
                    </a:lnTo>
                    <a:lnTo>
                      <a:pt x="9652000" y="3302000"/>
                    </a:lnTo>
                    <a:lnTo>
                      <a:pt x="0" y="3302000"/>
                    </a:lnTo>
                    <a:close/>
                  </a:path>
                </a:pathLst>
              </a:custGeom>
              <a:solidFill>
                <a:srgbClr val="BFE8D9"/>
              </a:solidFill>
              <a:ln w="9525" cap="sq">
                <a:solidFill>
                  <a:srgbClr val="CBD8D3"/>
                </a:solidFill>
                <a:prstDash val="solid"/>
                <a:miter/>
              </a:ln>
            </p:spPr>
          </p:sp>
          <p:sp>
            <p:nvSpPr>
              <p:cNvPr name="TextBox 25" id="25"/>
              <p:cNvSpPr txBox="true"/>
              <p:nvPr/>
            </p:nvSpPr>
            <p:spPr>
              <a:xfrm>
                <a:off x="0" y="-38100"/>
                <a:ext cx="9652000" cy="3340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6" id="26"/>
            <p:cNvSpPr txBox="true"/>
            <p:nvPr/>
          </p:nvSpPr>
          <p:spPr>
            <a:xfrm rot="0">
              <a:off x="698500" y="708025"/>
              <a:ext cx="8255000" cy="5073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32"/>
                </a:lnSpc>
                <a:spcBef>
                  <a:spcPct val="0"/>
                </a:spcBef>
              </a:pPr>
              <a:r>
                <a:rPr lang="en-US" b="true" sz="2550" strike="noStrike" u="none">
                  <a:solidFill>
                    <a:srgbClr val="132522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Requisitos y Certificación</a:t>
              </a:r>
            </a:p>
          </p:txBody>
        </p:sp>
        <p:sp>
          <p:nvSpPr>
            <p:cNvPr name="TextBox 27" id="27"/>
            <p:cNvSpPr txBox="true"/>
            <p:nvPr/>
          </p:nvSpPr>
          <p:spPr>
            <a:xfrm rot="0">
              <a:off x="698500" y="1612900"/>
              <a:ext cx="8255000" cy="4191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625"/>
                </a:lnSpc>
                <a:spcBef>
                  <a:spcPct val="0"/>
                </a:spcBef>
              </a:pPr>
              <a:r>
                <a:rPr lang="en-US" sz="1875" strike="noStrike" u="none">
                  <a:solidFill>
                    <a:srgbClr val="132522"/>
                  </a:solidFill>
                  <a:latin typeface="Open Sans"/>
                  <a:ea typeface="Open Sans"/>
                  <a:cs typeface="Open Sans"/>
                  <a:sym typeface="Open Sans"/>
                </a:rPr>
                <a:t>IEEE 830, Criterios de Aceptación y DoD dual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F4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52500" y="819150"/>
            <a:ext cx="13811250" cy="5996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698"/>
              </a:lnSpc>
              <a:spcBef>
                <a:spcPct val="0"/>
              </a:spcBef>
            </a:pPr>
            <a:r>
              <a:rPr lang="en-US" b="true" sz="4350" strike="noStrike" u="none">
                <a:solidFill>
                  <a:srgbClr val="13252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Aporte a nuestro desarrollo profesional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52500" y="1543050"/>
            <a:ext cx="11430000" cy="340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sz="2100">
                <a:solidFill>
                  <a:srgbClr val="61716E"/>
                </a:solidFill>
                <a:latin typeface="Open Sans"/>
                <a:ea typeface="Open Sans"/>
                <a:cs typeface="Open Sans"/>
                <a:sym typeface="Open Sans"/>
              </a:rPr>
              <a:t>Cada especialidad aporta una capa crítica al resultado común.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904875" y="3058478"/>
            <a:ext cx="3714750" cy="4667250"/>
            <a:chOff x="0" y="0"/>
            <a:chExt cx="4953000" cy="6223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953000" cy="6223000"/>
            </a:xfrm>
            <a:custGeom>
              <a:avLst/>
              <a:gdLst/>
              <a:ahLst/>
              <a:cxnLst/>
              <a:rect r="r" b="b" t="t" l="l"/>
              <a:pathLst>
                <a:path h="6223000" w="4953000">
                  <a:moveTo>
                    <a:pt x="0" y="0"/>
                  </a:moveTo>
                  <a:lnTo>
                    <a:pt x="4953000" y="0"/>
                  </a:lnTo>
                  <a:lnTo>
                    <a:pt x="4953000" y="6223000"/>
                  </a:lnTo>
                  <a:lnTo>
                    <a:pt x="0" y="6223000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CBD8D3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4953000" cy="6261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333500" y="3429000"/>
            <a:ext cx="361950" cy="361950"/>
            <a:chOff x="0" y="0"/>
            <a:chExt cx="482600" cy="4826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82600" cy="482600"/>
            </a:xfrm>
            <a:custGeom>
              <a:avLst/>
              <a:gdLst/>
              <a:ahLst/>
              <a:cxnLst/>
              <a:rect r="r" b="b" t="t" l="l"/>
              <a:pathLst>
                <a:path h="482600" w="482600">
                  <a:moveTo>
                    <a:pt x="241300" y="0"/>
                  </a:moveTo>
                  <a:cubicBezTo>
                    <a:pt x="374566" y="0"/>
                    <a:pt x="482600" y="108034"/>
                    <a:pt x="482600" y="241300"/>
                  </a:cubicBezTo>
                  <a:cubicBezTo>
                    <a:pt x="482600" y="374566"/>
                    <a:pt x="374566" y="482600"/>
                    <a:pt x="241300" y="482600"/>
                  </a:cubicBezTo>
                  <a:cubicBezTo>
                    <a:pt x="108034" y="482600"/>
                    <a:pt x="0" y="374566"/>
                    <a:pt x="0" y="241300"/>
                  </a:cubicBezTo>
                  <a:cubicBezTo>
                    <a:pt x="0" y="108034"/>
                    <a:pt x="108034" y="0"/>
                    <a:pt x="241300" y="0"/>
                  </a:cubicBezTo>
                  <a:close/>
                </a:path>
              </a:pathLst>
            </a:custGeom>
            <a:solidFill>
              <a:srgbClr val="00A878"/>
            </a:solidFill>
            <a:ln cap="sq">
              <a:noFill/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482600" cy="520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143000" y="4067175"/>
            <a:ext cx="3238500" cy="12873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98"/>
              </a:lnSpc>
              <a:spcBef>
                <a:spcPct val="0"/>
              </a:spcBef>
            </a:pPr>
            <a:r>
              <a:rPr lang="en-US" b="true" sz="1924" strike="noStrike" u="none">
                <a:solidFill>
                  <a:srgbClr val="0F252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Pedro Mallea · PM y Datos</a:t>
            </a:r>
          </a:p>
          <a:p>
            <a:pPr algn="l" marL="0" indent="0" lvl="0">
              <a:lnSpc>
                <a:spcPts val="2598"/>
              </a:lnSpc>
              <a:spcBef>
                <a:spcPct val="0"/>
              </a:spcBef>
            </a:pPr>
            <a:r>
              <a:rPr lang="en-US" b="true" sz="1924" strike="noStrike" u="none">
                <a:solidFill>
                  <a:srgbClr val="0F252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Gobernanza de datos y liderazgo Scrum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5072062" y="3058478"/>
            <a:ext cx="3714750" cy="4667250"/>
            <a:chOff x="0" y="0"/>
            <a:chExt cx="4953000" cy="6223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953000" cy="6223000"/>
            </a:xfrm>
            <a:custGeom>
              <a:avLst/>
              <a:gdLst/>
              <a:ahLst/>
              <a:cxnLst/>
              <a:rect r="r" b="b" t="t" l="l"/>
              <a:pathLst>
                <a:path h="6223000" w="4953000">
                  <a:moveTo>
                    <a:pt x="0" y="0"/>
                  </a:moveTo>
                  <a:lnTo>
                    <a:pt x="4953000" y="0"/>
                  </a:lnTo>
                  <a:lnTo>
                    <a:pt x="4953000" y="6223000"/>
                  </a:lnTo>
                  <a:lnTo>
                    <a:pt x="0" y="6223000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CBD8D3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4953000" cy="6261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5500688" y="3429000"/>
            <a:ext cx="361950" cy="361950"/>
            <a:chOff x="0" y="0"/>
            <a:chExt cx="482600" cy="4826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82600" cy="482600"/>
            </a:xfrm>
            <a:custGeom>
              <a:avLst/>
              <a:gdLst/>
              <a:ahLst/>
              <a:cxnLst/>
              <a:rect r="r" b="b" t="t" l="l"/>
              <a:pathLst>
                <a:path h="482600" w="482600">
                  <a:moveTo>
                    <a:pt x="241300" y="0"/>
                  </a:moveTo>
                  <a:cubicBezTo>
                    <a:pt x="374566" y="0"/>
                    <a:pt x="482600" y="108034"/>
                    <a:pt x="482600" y="241300"/>
                  </a:cubicBezTo>
                  <a:cubicBezTo>
                    <a:pt x="482600" y="374566"/>
                    <a:pt x="374566" y="482600"/>
                    <a:pt x="241300" y="482600"/>
                  </a:cubicBezTo>
                  <a:cubicBezTo>
                    <a:pt x="108034" y="482600"/>
                    <a:pt x="0" y="374566"/>
                    <a:pt x="0" y="241300"/>
                  </a:cubicBezTo>
                  <a:cubicBezTo>
                    <a:pt x="0" y="108034"/>
                    <a:pt x="108034" y="0"/>
                    <a:pt x="241300" y="0"/>
                  </a:cubicBezTo>
                  <a:close/>
                </a:path>
              </a:pathLst>
            </a:custGeom>
            <a:solidFill>
              <a:srgbClr val="00A878"/>
            </a:solidFill>
            <a:ln cap="sq">
              <a:noFill/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482600" cy="520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5310188" y="4067175"/>
            <a:ext cx="3238500" cy="1287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92"/>
              </a:lnSpc>
              <a:spcBef>
                <a:spcPct val="0"/>
              </a:spcBef>
            </a:pPr>
            <a:r>
              <a:rPr lang="en-US" b="true" sz="1920" strike="noStrike" u="none">
                <a:solidFill>
                  <a:srgbClr val="0F252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Martín Muñoz · Data Engineer</a:t>
            </a:r>
          </a:p>
          <a:p>
            <a:pPr algn="l" marL="0" indent="0" lvl="0">
              <a:lnSpc>
                <a:spcPts val="2592"/>
              </a:lnSpc>
              <a:spcBef>
                <a:spcPct val="0"/>
              </a:spcBef>
            </a:pPr>
            <a:r>
              <a:rPr lang="en-US" b="true" sz="1920" strike="noStrike" u="none">
                <a:solidFill>
                  <a:srgbClr val="0F252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Pipelines ETL y Web Scraping dinámico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9286875" y="3048000"/>
            <a:ext cx="3714750" cy="4667250"/>
            <a:chOff x="0" y="0"/>
            <a:chExt cx="4953000" cy="62230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4953000" cy="6223000"/>
            </a:xfrm>
            <a:custGeom>
              <a:avLst/>
              <a:gdLst/>
              <a:ahLst/>
              <a:cxnLst/>
              <a:rect r="r" b="b" t="t" l="l"/>
              <a:pathLst>
                <a:path h="6223000" w="4953000">
                  <a:moveTo>
                    <a:pt x="0" y="0"/>
                  </a:moveTo>
                  <a:lnTo>
                    <a:pt x="4953000" y="0"/>
                  </a:lnTo>
                  <a:lnTo>
                    <a:pt x="4953000" y="6223000"/>
                  </a:lnTo>
                  <a:lnTo>
                    <a:pt x="0" y="6223000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CBD8D3"/>
              </a:solidFill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4953000" cy="6261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9715500" y="3429000"/>
            <a:ext cx="361950" cy="361950"/>
            <a:chOff x="0" y="0"/>
            <a:chExt cx="482600" cy="4826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482600" cy="482600"/>
            </a:xfrm>
            <a:custGeom>
              <a:avLst/>
              <a:gdLst/>
              <a:ahLst/>
              <a:cxnLst/>
              <a:rect r="r" b="b" t="t" l="l"/>
              <a:pathLst>
                <a:path h="482600" w="482600">
                  <a:moveTo>
                    <a:pt x="241300" y="0"/>
                  </a:moveTo>
                  <a:cubicBezTo>
                    <a:pt x="374566" y="0"/>
                    <a:pt x="482600" y="108034"/>
                    <a:pt x="482600" y="241300"/>
                  </a:cubicBezTo>
                  <a:cubicBezTo>
                    <a:pt x="482600" y="374566"/>
                    <a:pt x="374566" y="482600"/>
                    <a:pt x="241300" y="482600"/>
                  </a:cubicBezTo>
                  <a:cubicBezTo>
                    <a:pt x="108034" y="482600"/>
                    <a:pt x="0" y="374566"/>
                    <a:pt x="0" y="241300"/>
                  </a:cubicBezTo>
                  <a:cubicBezTo>
                    <a:pt x="0" y="108034"/>
                    <a:pt x="108034" y="0"/>
                    <a:pt x="241300" y="0"/>
                  </a:cubicBezTo>
                  <a:close/>
                </a:path>
              </a:pathLst>
            </a:custGeom>
            <a:solidFill>
              <a:srgbClr val="00A878"/>
            </a:solidFill>
            <a:ln cap="sq">
              <a:noFill/>
              <a:prstDash val="solid"/>
              <a:miter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482600" cy="520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9608344" y="4067175"/>
            <a:ext cx="3238500" cy="12501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31"/>
              </a:lnSpc>
              <a:spcBef>
                <a:spcPct val="0"/>
              </a:spcBef>
            </a:pPr>
            <a:r>
              <a:rPr lang="en-US" b="true" sz="1875" strike="noStrike" u="none">
                <a:solidFill>
                  <a:srgbClr val="0F252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Iván Sepulveda · Full-Stack</a:t>
            </a:r>
          </a:p>
          <a:p>
            <a:pPr algn="l" marL="0" indent="0" lvl="0">
              <a:lnSpc>
                <a:spcPts val="2531"/>
              </a:lnSpc>
              <a:spcBef>
                <a:spcPct val="0"/>
              </a:spcBef>
            </a:pPr>
            <a:r>
              <a:rPr lang="en-US" b="true" sz="1875" strike="noStrike" u="none">
                <a:solidFill>
                  <a:srgbClr val="0F252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Arquitectura Astro/FastAPI y UI/UX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13477875" y="3058478"/>
            <a:ext cx="3714750" cy="4667250"/>
            <a:chOff x="0" y="0"/>
            <a:chExt cx="4953000" cy="62230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4953000" cy="6223000"/>
            </a:xfrm>
            <a:custGeom>
              <a:avLst/>
              <a:gdLst/>
              <a:ahLst/>
              <a:cxnLst/>
              <a:rect r="r" b="b" t="t" l="l"/>
              <a:pathLst>
                <a:path h="6223000" w="4953000">
                  <a:moveTo>
                    <a:pt x="0" y="0"/>
                  </a:moveTo>
                  <a:lnTo>
                    <a:pt x="4953000" y="0"/>
                  </a:lnTo>
                  <a:lnTo>
                    <a:pt x="4953000" y="6223000"/>
                  </a:lnTo>
                  <a:lnTo>
                    <a:pt x="0" y="6223000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CBD8D3"/>
              </a:solidFill>
              <a:prstDash val="solid"/>
              <a:miter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4953000" cy="6261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3906500" y="3429000"/>
            <a:ext cx="361950" cy="361950"/>
            <a:chOff x="0" y="0"/>
            <a:chExt cx="482600" cy="4826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482600" cy="482600"/>
            </a:xfrm>
            <a:custGeom>
              <a:avLst/>
              <a:gdLst/>
              <a:ahLst/>
              <a:cxnLst/>
              <a:rect r="r" b="b" t="t" l="l"/>
              <a:pathLst>
                <a:path h="482600" w="482600">
                  <a:moveTo>
                    <a:pt x="241300" y="0"/>
                  </a:moveTo>
                  <a:cubicBezTo>
                    <a:pt x="374566" y="0"/>
                    <a:pt x="482600" y="108034"/>
                    <a:pt x="482600" y="241300"/>
                  </a:cubicBezTo>
                  <a:cubicBezTo>
                    <a:pt x="482600" y="374566"/>
                    <a:pt x="374566" y="482600"/>
                    <a:pt x="241300" y="482600"/>
                  </a:cubicBezTo>
                  <a:cubicBezTo>
                    <a:pt x="108034" y="482600"/>
                    <a:pt x="0" y="374566"/>
                    <a:pt x="0" y="241300"/>
                  </a:cubicBezTo>
                  <a:cubicBezTo>
                    <a:pt x="0" y="108034"/>
                    <a:pt x="108034" y="0"/>
                    <a:pt x="241300" y="0"/>
                  </a:cubicBezTo>
                  <a:close/>
                </a:path>
              </a:pathLst>
            </a:custGeom>
            <a:solidFill>
              <a:srgbClr val="00A878"/>
            </a:solidFill>
            <a:ln cap="sq">
              <a:noFill/>
              <a:prstDash val="solid"/>
              <a:miter/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482600" cy="520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31" id="31"/>
          <p:cNvSpPr txBox="true"/>
          <p:nvPr/>
        </p:nvSpPr>
        <p:spPr>
          <a:xfrm rot="0">
            <a:off x="13906500" y="4229148"/>
            <a:ext cx="3238500" cy="9634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98"/>
              </a:lnSpc>
              <a:spcBef>
                <a:spcPct val="0"/>
              </a:spcBef>
            </a:pPr>
            <a:r>
              <a:rPr lang="en-US" b="true" sz="1925" strike="noStrike" u="none">
                <a:solidFill>
                  <a:srgbClr val="0F252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Proyección de Equipo</a:t>
            </a:r>
          </a:p>
          <a:p>
            <a:pPr algn="l" marL="0" indent="0" lvl="0">
              <a:lnSpc>
                <a:spcPts val="2598"/>
              </a:lnSpc>
              <a:spcBef>
                <a:spcPct val="0"/>
              </a:spcBef>
            </a:pPr>
            <a:r>
              <a:rPr lang="en-US" b="true" sz="1925" strike="noStrike" u="none">
                <a:solidFill>
                  <a:srgbClr val="0F252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Cloudflare CI/CD y estándares de industria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0F25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52500" y="914400"/>
            <a:ext cx="11430000" cy="5996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98"/>
              </a:lnSpc>
            </a:pPr>
            <a:r>
              <a:rPr lang="en-US" sz="435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Scrum como sistema de entrega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52500" y="1685925"/>
            <a:ext cx="14287500" cy="340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35"/>
              </a:lnSpc>
              <a:spcBef>
                <a:spcPct val="0"/>
              </a:spcBef>
            </a:pPr>
            <a:r>
              <a:rPr lang="en-US" sz="2100" strike="noStrike" u="none">
                <a:solidFill>
                  <a:srgbClr val="BFE8D9"/>
                </a:solidFill>
                <a:latin typeface="Open Sans"/>
                <a:ea typeface="Open Sans"/>
                <a:cs typeface="Open Sans"/>
                <a:sym typeface="Open Sans"/>
              </a:rPr>
              <a:t>5 Sprints · 9 Historias (60 pts Fibonacci) · Docs 01 al 05 (Vision, Backlog, DoD, UML) y Actas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047750" y="4095750"/>
            <a:ext cx="2381250" cy="1428750"/>
            <a:chOff x="0" y="0"/>
            <a:chExt cx="3175000" cy="1905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175000" cy="1905000"/>
            </a:xfrm>
            <a:custGeom>
              <a:avLst/>
              <a:gdLst/>
              <a:ahLst/>
              <a:cxnLst/>
              <a:rect r="r" b="b" t="t" l="l"/>
              <a:pathLst>
                <a:path h="1905000" w="3175000">
                  <a:moveTo>
                    <a:pt x="91440" y="0"/>
                  </a:moveTo>
                  <a:lnTo>
                    <a:pt x="3083560" y="0"/>
                  </a:lnTo>
                  <a:cubicBezTo>
                    <a:pt x="3134061" y="0"/>
                    <a:pt x="3175000" y="40939"/>
                    <a:pt x="3175000" y="91440"/>
                  </a:cubicBezTo>
                  <a:lnTo>
                    <a:pt x="3175000" y="1813560"/>
                  </a:lnTo>
                  <a:cubicBezTo>
                    <a:pt x="3175000" y="1864061"/>
                    <a:pt x="3134061" y="1905000"/>
                    <a:pt x="3083560" y="1905000"/>
                  </a:cubicBezTo>
                  <a:lnTo>
                    <a:pt x="91440" y="1905000"/>
                  </a:lnTo>
                  <a:cubicBezTo>
                    <a:pt x="40939" y="1905000"/>
                    <a:pt x="0" y="1864061"/>
                    <a:pt x="0" y="1813560"/>
                  </a:cubicBezTo>
                  <a:lnTo>
                    <a:pt x="0" y="91440"/>
                  </a:lnTo>
                  <a:cubicBezTo>
                    <a:pt x="0" y="40939"/>
                    <a:pt x="40939" y="0"/>
                    <a:pt x="91440" y="0"/>
                  </a:cubicBezTo>
                  <a:close/>
                </a:path>
              </a:pathLst>
            </a:custGeom>
            <a:solidFill>
              <a:srgbClr val="253A38"/>
            </a:solidFill>
            <a:ln cap="sq">
              <a:noFill/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3175000" cy="1943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  <a:r>
                <a:rPr lang="en-US" sz="2100" b="tru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Backlog</a:t>
              </a:r>
            </a:p>
          </p:txBody>
        </p:sp>
      </p:grpSp>
      <p:sp>
        <p:nvSpPr>
          <p:cNvPr name="AutoShape 7" id="7"/>
          <p:cNvSpPr/>
          <p:nvPr/>
        </p:nvSpPr>
        <p:spPr>
          <a:xfrm>
            <a:off x="3524250" y="4810125"/>
            <a:ext cx="666750" cy="0"/>
          </a:xfrm>
          <a:prstGeom prst="line">
            <a:avLst/>
          </a:prstGeom>
          <a:ln cap="rnd" w="38100">
            <a:solidFill>
              <a:srgbClr val="00A878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8" id="8"/>
          <p:cNvGrpSpPr/>
          <p:nvPr/>
        </p:nvGrpSpPr>
        <p:grpSpPr>
          <a:xfrm rot="0">
            <a:off x="4381500" y="4095750"/>
            <a:ext cx="2381250" cy="1428750"/>
            <a:chOff x="0" y="0"/>
            <a:chExt cx="3175000" cy="1905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175000" cy="1905000"/>
            </a:xfrm>
            <a:custGeom>
              <a:avLst/>
              <a:gdLst/>
              <a:ahLst/>
              <a:cxnLst/>
              <a:rect r="r" b="b" t="t" l="l"/>
              <a:pathLst>
                <a:path h="1905000" w="3175000">
                  <a:moveTo>
                    <a:pt x="91440" y="0"/>
                  </a:moveTo>
                  <a:lnTo>
                    <a:pt x="3083560" y="0"/>
                  </a:lnTo>
                  <a:cubicBezTo>
                    <a:pt x="3134061" y="0"/>
                    <a:pt x="3175000" y="40939"/>
                    <a:pt x="3175000" y="91440"/>
                  </a:cubicBezTo>
                  <a:lnTo>
                    <a:pt x="3175000" y="1813560"/>
                  </a:lnTo>
                  <a:cubicBezTo>
                    <a:pt x="3175000" y="1864061"/>
                    <a:pt x="3134061" y="1905000"/>
                    <a:pt x="3083560" y="1905000"/>
                  </a:cubicBezTo>
                  <a:lnTo>
                    <a:pt x="91440" y="1905000"/>
                  </a:lnTo>
                  <a:cubicBezTo>
                    <a:pt x="40939" y="1905000"/>
                    <a:pt x="0" y="1864061"/>
                    <a:pt x="0" y="1813560"/>
                  </a:cubicBezTo>
                  <a:lnTo>
                    <a:pt x="0" y="91440"/>
                  </a:lnTo>
                  <a:cubicBezTo>
                    <a:pt x="0" y="40939"/>
                    <a:pt x="40939" y="0"/>
                    <a:pt x="91440" y="0"/>
                  </a:cubicBezTo>
                  <a:close/>
                </a:path>
              </a:pathLst>
            </a:custGeom>
            <a:solidFill>
              <a:srgbClr val="253A38"/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3175000" cy="1943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  <a:r>
                <a:rPr lang="en-US" sz="2100" b="tru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Planificar</a:t>
              </a:r>
            </a:p>
          </p:txBody>
        </p:sp>
      </p:grpSp>
      <p:sp>
        <p:nvSpPr>
          <p:cNvPr name="AutoShape 11" id="11"/>
          <p:cNvSpPr/>
          <p:nvPr/>
        </p:nvSpPr>
        <p:spPr>
          <a:xfrm>
            <a:off x="6858000" y="4810125"/>
            <a:ext cx="666750" cy="0"/>
          </a:xfrm>
          <a:prstGeom prst="line">
            <a:avLst/>
          </a:prstGeom>
          <a:ln cap="rnd" w="38100">
            <a:solidFill>
              <a:srgbClr val="00A878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2" id="12"/>
          <p:cNvGrpSpPr/>
          <p:nvPr/>
        </p:nvGrpSpPr>
        <p:grpSpPr>
          <a:xfrm rot="0">
            <a:off x="7715250" y="4095750"/>
            <a:ext cx="2381250" cy="1428750"/>
            <a:chOff x="0" y="0"/>
            <a:chExt cx="3175000" cy="1905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175000" cy="1905000"/>
            </a:xfrm>
            <a:custGeom>
              <a:avLst/>
              <a:gdLst/>
              <a:ahLst/>
              <a:cxnLst/>
              <a:rect r="r" b="b" t="t" l="l"/>
              <a:pathLst>
                <a:path h="1905000" w="3175000">
                  <a:moveTo>
                    <a:pt x="91440" y="0"/>
                  </a:moveTo>
                  <a:lnTo>
                    <a:pt x="3083560" y="0"/>
                  </a:lnTo>
                  <a:cubicBezTo>
                    <a:pt x="3134061" y="0"/>
                    <a:pt x="3175000" y="40939"/>
                    <a:pt x="3175000" y="91440"/>
                  </a:cubicBezTo>
                  <a:lnTo>
                    <a:pt x="3175000" y="1813560"/>
                  </a:lnTo>
                  <a:cubicBezTo>
                    <a:pt x="3175000" y="1864061"/>
                    <a:pt x="3134061" y="1905000"/>
                    <a:pt x="3083560" y="1905000"/>
                  </a:cubicBezTo>
                  <a:lnTo>
                    <a:pt x="91440" y="1905000"/>
                  </a:lnTo>
                  <a:cubicBezTo>
                    <a:pt x="40939" y="1905000"/>
                    <a:pt x="0" y="1864061"/>
                    <a:pt x="0" y="1813560"/>
                  </a:cubicBezTo>
                  <a:lnTo>
                    <a:pt x="0" y="91440"/>
                  </a:lnTo>
                  <a:cubicBezTo>
                    <a:pt x="0" y="40939"/>
                    <a:pt x="40939" y="0"/>
                    <a:pt x="91440" y="0"/>
                  </a:cubicBezTo>
                  <a:close/>
                </a:path>
              </a:pathLst>
            </a:custGeom>
            <a:solidFill>
              <a:srgbClr val="253A38"/>
            </a:solidFill>
            <a:ln cap="sq">
              <a:noFill/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3175000" cy="1943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  <a:r>
                <a:rPr lang="en-US" sz="2100" b="tru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Construir</a:t>
              </a:r>
            </a:p>
          </p:txBody>
        </p:sp>
      </p:grpSp>
      <p:sp>
        <p:nvSpPr>
          <p:cNvPr name="AutoShape 15" id="15"/>
          <p:cNvSpPr/>
          <p:nvPr/>
        </p:nvSpPr>
        <p:spPr>
          <a:xfrm>
            <a:off x="10191750" y="4810125"/>
            <a:ext cx="666750" cy="0"/>
          </a:xfrm>
          <a:prstGeom prst="line">
            <a:avLst/>
          </a:prstGeom>
          <a:ln cap="rnd" w="38100">
            <a:solidFill>
              <a:srgbClr val="00A878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6" id="16"/>
          <p:cNvGrpSpPr/>
          <p:nvPr/>
        </p:nvGrpSpPr>
        <p:grpSpPr>
          <a:xfrm rot="0">
            <a:off x="11049000" y="4095750"/>
            <a:ext cx="2381250" cy="1428750"/>
            <a:chOff x="0" y="0"/>
            <a:chExt cx="3175000" cy="19050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175000" cy="1905000"/>
            </a:xfrm>
            <a:custGeom>
              <a:avLst/>
              <a:gdLst/>
              <a:ahLst/>
              <a:cxnLst/>
              <a:rect r="r" b="b" t="t" l="l"/>
              <a:pathLst>
                <a:path h="1905000" w="3175000">
                  <a:moveTo>
                    <a:pt x="91440" y="0"/>
                  </a:moveTo>
                  <a:lnTo>
                    <a:pt x="3083560" y="0"/>
                  </a:lnTo>
                  <a:cubicBezTo>
                    <a:pt x="3134061" y="0"/>
                    <a:pt x="3175000" y="40939"/>
                    <a:pt x="3175000" y="91440"/>
                  </a:cubicBezTo>
                  <a:lnTo>
                    <a:pt x="3175000" y="1813560"/>
                  </a:lnTo>
                  <a:cubicBezTo>
                    <a:pt x="3175000" y="1864061"/>
                    <a:pt x="3134061" y="1905000"/>
                    <a:pt x="3083560" y="1905000"/>
                  </a:cubicBezTo>
                  <a:lnTo>
                    <a:pt x="91440" y="1905000"/>
                  </a:lnTo>
                  <a:cubicBezTo>
                    <a:pt x="40939" y="1905000"/>
                    <a:pt x="0" y="1864061"/>
                    <a:pt x="0" y="1813560"/>
                  </a:cubicBezTo>
                  <a:lnTo>
                    <a:pt x="0" y="91440"/>
                  </a:lnTo>
                  <a:cubicBezTo>
                    <a:pt x="0" y="40939"/>
                    <a:pt x="40939" y="0"/>
                    <a:pt x="91440" y="0"/>
                  </a:cubicBezTo>
                  <a:close/>
                </a:path>
              </a:pathLst>
            </a:custGeom>
            <a:solidFill>
              <a:srgbClr val="253A38"/>
            </a:solidFill>
            <a:ln cap="sq">
              <a:noFill/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3175000" cy="1943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  <a:r>
                <a:rPr lang="en-US" sz="2100" b="tru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Validar</a:t>
              </a:r>
            </a:p>
          </p:txBody>
        </p:sp>
      </p:grpSp>
      <p:sp>
        <p:nvSpPr>
          <p:cNvPr name="AutoShape 19" id="19"/>
          <p:cNvSpPr/>
          <p:nvPr/>
        </p:nvSpPr>
        <p:spPr>
          <a:xfrm>
            <a:off x="13525500" y="4810125"/>
            <a:ext cx="666750" cy="0"/>
          </a:xfrm>
          <a:prstGeom prst="line">
            <a:avLst/>
          </a:prstGeom>
          <a:ln cap="rnd" w="38100">
            <a:solidFill>
              <a:srgbClr val="00A878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0" id="20"/>
          <p:cNvGrpSpPr/>
          <p:nvPr/>
        </p:nvGrpSpPr>
        <p:grpSpPr>
          <a:xfrm rot="0">
            <a:off x="14382750" y="4095750"/>
            <a:ext cx="2381250" cy="1428750"/>
            <a:chOff x="0" y="0"/>
            <a:chExt cx="3175000" cy="19050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3175000" cy="1905000"/>
            </a:xfrm>
            <a:custGeom>
              <a:avLst/>
              <a:gdLst/>
              <a:ahLst/>
              <a:cxnLst/>
              <a:rect r="r" b="b" t="t" l="l"/>
              <a:pathLst>
                <a:path h="1905000" w="3175000">
                  <a:moveTo>
                    <a:pt x="91440" y="0"/>
                  </a:moveTo>
                  <a:lnTo>
                    <a:pt x="3083560" y="0"/>
                  </a:lnTo>
                  <a:cubicBezTo>
                    <a:pt x="3134061" y="0"/>
                    <a:pt x="3175000" y="40939"/>
                    <a:pt x="3175000" y="91440"/>
                  </a:cubicBezTo>
                  <a:lnTo>
                    <a:pt x="3175000" y="1813560"/>
                  </a:lnTo>
                  <a:cubicBezTo>
                    <a:pt x="3175000" y="1864061"/>
                    <a:pt x="3134061" y="1905000"/>
                    <a:pt x="3083560" y="1905000"/>
                  </a:cubicBezTo>
                  <a:lnTo>
                    <a:pt x="91440" y="1905000"/>
                  </a:lnTo>
                  <a:cubicBezTo>
                    <a:pt x="40939" y="1905000"/>
                    <a:pt x="0" y="1864061"/>
                    <a:pt x="0" y="1813560"/>
                  </a:cubicBezTo>
                  <a:lnTo>
                    <a:pt x="0" y="91440"/>
                  </a:lnTo>
                  <a:cubicBezTo>
                    <a:pt x="0" y="40939"/>
                    <a:pt x="40939" y="0"/>
                    <a:pt x="91440" y="0"/>
                  </a:cubicBezTo>
                  <a:close/>
                </a:path>
              </a:pathLst>
            </a:custGeom>
            <a:solidFill>
              <a:srgbClr val="00A878"/>
            </a:solidFill>
            <a:ln cap="sq">
              <a:noFill/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3175000" cy="1943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  <a:r>
                <a:rPr lang="en-US" sz="2100" b="tru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Aprender</a:t>
              </a: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3333750" y="7267575"/>
            <a:ext cx="11620500" cy="363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35"/>
              </a:lnSpc>
            </a:pPr>
            <a:r>
              <a:rPr lang="en-US" sz="2625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Cada Sprint reduce incertidumbre y deja una evidencia revisable.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52500" y="723900"/>
            <a:ext cx="9525000" cy="5996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98"/>
              </a:lnSpc>
            </a:pPr>
            <a:r>
              <a:rPr lang="en-US" sz="4350" b="true">
                <a:solidFill>
                  <a:srgbClr val="13252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Avance frente al plan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52500" y="1400175"/>
            <a:ext cx="10477500" cy="340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sz="2100">
                <a:solidFill>
                  <a:srgbClr val="61716E"/>
                </a:solidFill>
                <a:latin typeface="Open Sans"/>
                <a:ea typeface="Open Sans"/>
                <a:cs typeface="Open Sans"/>
                <a:sym typeface="Open Sans"/>
              </a:rPr>
              <a:t>Lectura ejecutiva de estado y puntos comprometidos por Sprint.</a:t>
            </a:r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52528" y="1599443"/>
            <a:ext cx="12011308" cy="8135866"/>
          </a:xfrm>
          <a:prstGeom prst="rect">
            <a:avLst/>
          </a:prstGeom>
        </p:spPr>
      </p:pic>
      <p:grpSp>
        <p:nvGrpSpPr>
          <p:cNvPr name="Group 5" id="5"/>
          <p:cNvGrpSpPr/>
          <p:nvPr/>
        </p:nvGrpSpPr>
        <p:grpSpPr>
          <a:xfrm rot="0">
            <a:off x="11715750" y="3600450"/>
            <a:ext cx="5334000" cy="2066925"/>
            <a:chOff x="0" y="0"/>
            <a:chExt cx="7112000" cy="2755900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0" y="0"/>
              <a:ext cx="7112000" cy="2755900"/>
              <a:chOff x="0" y="0"/>
              <a:chExt cx="7112000" cy="275590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7112000" cy="2755900"/>
              </a:xfrm>
              <a:custGeom>
                <a:avLst/>
                <a:gdLst/>
                <a:ahLst/>
                <a:cxnLst/>
                <a:rect r="r" b="b" t="t" l="l"/>
                <a:pathLst>
                  <a:path h="2755900" w="7112000">
                    <a:moveTo>
                      <a:pt x="0" y="0"/>
                    </a:moveTo>
                    <a:lnTo>
                      <a:pt x="7112000" y="0"/>
                    </a:lnTo>
                    <a:lnTo>
                      <a:pt x="7112000" y="2755900"/>
                    </a:lnTo>
                    <a:lnTo>
                      <a:pt x="0" y="2755900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CBD8D3"/>
                </a:solidFill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38100"/>
                <a:ext cx="7112000" cy="27940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9" id="9"/>
            <p:cNvSpPr txBox="true"/>
            <p:nvPr/>
          </p:nvSpPr>
          <p:spPr>
            <a:xfrm rot="0">
              <a:off x="635000" y="390525"/>
              <a:ext cx="5588000" cy="5073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32"/>
                </a:lnSpc>
                <a:spcBef>
                  <a:spcPct val="0"/>
                </a:spcBef>
              </a:pPr>
              <a:r>
                <a:rPr lang="en-US" b="true" sz="2550">
                  <a:solidFill>
                    <a:srgbClr val="132522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S1-S7 </a:t>
              </a:r>
              <a:r>
                <a:rPr lang="en-US" b="true" sz="2550" strike="noStrike" u="none">
                  <a:solidFill>
                    <a:srgbClr val="132522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(29 pts)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635000" y="1609725"/>
              <a:ext cx="5842000" cy="8058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520"/>
                </a:lnSpc>
                <a:spcBef>
                  <a:spcPct val="0"/>
                </a:spcBef>
              </a:pPr>
              <a:r>
                <a:rPr lang="en-US" b="true" sz="1800" spc="144" strike="noStrike" u="none">
                  <a:solidFill>
                    <a:srgbClr val="00A878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COMPLETADO · BBDD Supabase y Scrapers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1715750" y="5807927"/>
            <a:ext cx="5334000" cy="2066925"/>
            <a:chOff x="0" y="0"/>
            <a:chExt cx="7112000" cy="2755900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0" y="0"/>
              <a:ext cx="7112000" cy="2755900"/>
              <a:chOff x="0" y="0"/>
              <a:chExt cx="7112000" cy="275590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7112000" cy="2755900"/>
              </a:xfrm>
              <a:custGeom>
                <a:avLst/>
                <a:gdLst/>
                <a:ahLst/>
                <a:cxnLst/>
                <a:rect r="r" b="b" t="t" l="l"/>
                <a:pathLst>
                  <a:path h="2755900" w="7112000">
                    <a:moveTo>
                      <a:pt x="0" y="0"/>
                    </a:moveTo>
                    <a:lnTo>
                      <a:pt x="7112000" y="0"/>
                    </a:lnTo>
                    <a:lnTo>
                      <a:pt x="7112000" y="2755900"/>
                    </a:lnTo>
                    <a:lnTo>
                      <a:pt x="0" y="2755900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CBD8D3"/>
                </a:solidFill>
                <a:prstDash val="solid"/>
                <a:miter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38100"/>
                <a:ext cx="7112000" cy="27940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5" id="15"/>
            <p:cNvSpPr txBox="true"/>
            <p:nvPr/>
          </p:nvSpPr>
          <p:spPr>
            <a:xfrm rot="0">
              <a:off x="635000" y="390525"/>
              <a:ext cx="5588000" cy="5073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32"/>
                </a:lnSpc>
                <a:spcBef>
                  <a:spcPct val="0"/>
                </a:spcBef>
              </a:pPr>
              <a:r>
                <a:rPr lang="en-US" b="true" sz="2550" strike="noStrike" u="none">
                  <a:solidFill>
                    <a:srgbClr val="132522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S7-S9 (13 pts)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635000" y="1609725"/>
              <a:ext cx="5842000" cy="8058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520"/>
                </a:lnSpc>
                <a:spcBef>
                  <a:spcPct val="0"/>
                </a:spcBef>
              </a:pPr>
              <a:r>
                <a:rPr lang="en-US" b="true" sz="1800" spc="144" strike="noStrike" u="none">
                  <a:solidFill>
                    <a:srgbClr val="F1B24A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EN CURSO ≈60% · API FastAPI y Buscador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F4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52500" y="723900"/>
            <a:ext cx="12382500" cy="5996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98"/>
              </a:lnSpc>
            </a:pPr>
            <a:r>
              <a:rPr lang="en-US" sz="4350" b="true">
                <a:solidFill>
                  <a:srgbClr val="13252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Evidencia trazable, aporte visible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52500" y="1400175"/>
            <a:ext cx="12382500" cy="340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sz="2100">
                <a:solidFill>
                  <a:srgbClr val="61716E"/>
                </a:solidFill>
                <a:latin typeface="Open Sans"/>
                <a:ea typeface="Open Sans"/>
                <a:cs typeface="Open Sans"/>
                <a:sym typeface="Open Sans"/>
              </a:rPr>
              <a:t>El repositorio concentra código, documentación y validaciones por especialidad.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857250" y="2619375"/>
            <a:ext cx="16573500" cy="904875"/>
            <a:chOff x="0" y="0"/>
            <a:chExt cx="22098000" cy="12065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098000" cy="1206500"/>
            </a:xfrm>
            <a:custGeom>
              <a:avLst/>
              <a:gdLst/>
              <a:ahLst/>
              <a:cxnLst/>
              <a:rect r="r" b="b" t="t" l="l"/>
              <a:pathLst>
                <a:path h="1206500" w="22098000">
                  <a:moveTo>
                    <a:pt x="0" y="0"/>
                  </a:moveTo>
                  <a:lnTo>
                    <a:pt x="22098000" y="0"/>
                  </a:lnTo>
                  <a:lnTo>
                    <a:pt x="22098000" y="1206500"/>
                  </a:lnTo>
                  <a:lnTo>
                    <a:pt x="0" y="1206500"/>
                  </a:lnTo>
                  <a:close/>
                </a:path>
              </a:pathLst>
            </a:custGeom>
            <a:solidFill>
              <a:srgbClr val="253A38"/>
            </a:solidFill>
            <a:ln cap="sq">
              <a:noFill/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2098000" cy="1244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143000" y="2924175"/>
            <a:ext cx="304800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120" b="true">
                <a:solidFill>
                  <a:srgbClr val="BFE8D9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INTEGRANTE / ROL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953000" y="2924175"/>
            <a:ext cx="619125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120" b="true">
                <a:solidFill>
                  <a:srgbClr val="BFE8D9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APORTE PRINCIPAL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001500" y="2924175"/>
            <a:ext cx="476250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120" b="true">
                <a:solidFill>
                  <a:srgbClr val="BFE8D9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RESPALDO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857250" y="3714750"/>
            <a:ext cx="16573500" cy="1143000"/>
            <a:chOff x="0" y="0"/>
            <a:chExt cx="22098000" cy="1524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2098000" cy="1524000"/>
            </a:xfrm>
            <a:custGeom>
              <a:avLst/>
              <a:gdLst/>
              <a:ahLst/>
              <a:cxnLst/>
              <a:rect r="r" b="b" t="t" l="l"/>
              <a:pathLst>
                <a:path h="1524000" w="22098000">
                  <a:moveTo>
                    <a:pt x="0" y="0"/>
                  </a:moveTo>
                  <a:lnTo>
                    <a:pt x="22098000" y="0"/>
                  </a:lnTo>
                  <a:lnTo>
                    <a:pt x="22098000" y="1524000"/>
                  </a:lnTo>
                  <a:lnTo>
                    <a:pt x="0" y="1524000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CBD8D3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22098000" cy="156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143000" y="3914775"/>
            <a:ext cx="3048000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25"/>
              </a:lnSpc>
              <a:spcBef>
                <a:spcPct val="0"/>
              </a:spcBef>
            </a:pPr>
            <a:r>
              <a:rPr lang="en-US" b="true" sz="1875" strike="noStrike" u="none">
                <a:solidFill>
                  <a:srgbClr val="132522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Pedro Mallea · PM / Datos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4953000" y="3924300"/>
            <a:ext cx="6191250" cy="594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415"/>
              </a:lnSpc>
              <a:spcBef>
                <a:spcPct val="0"/>
              </a:spcBef>
            </a:pPr>
            <a:r>
              <a:rPr lang="en-US" sz="1725" strike="noStrike" u="none">
                <a:solidFill>
                  <a:srgbClr val="132522"/>
                </a:solidFill>
                <a:latin typeface="Open Sans"/>
                <a:ea typeface="Open Sans"/>
                <a:cs typeface="Open Sans"/>
                <a:sym typeface="Open Sans"/>
              </a:rPr>
              <a:t>Esquema SQL Supabase (sources, productos_integrales) y RLS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001500" y="3924300"/>
            <a:ext cx="4762500" cy="289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415"/>
              </a:lnSpc>
              <a:spcBef>
                <a:spcPct val="0"/>
              </a:spcBef>
            </a:pPr>
            <a:r>
              <a:rPr lang="en-US" sz="1725" strike="noStrike" u="none">
                <a:solidFill>
                  <a:srgbClr val="132522"/>
                </a:solidFill>
                <a:latin typeface="Open Sans"/>
                <a:ea typeface="Open Sans"/>
                <a:cs typeface="Open Sans"/>
                <a:sym typeface="Open Sans"/>
              </a:rPr>
              <a:t>Supabase · Video BBDD · Actas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857250" y="5000625"/>
            <a:ext cx="16573500" cy="1143000"/>
            <a:chOff x="0" y="0"/>
            <a:chExt cx="22098000" cy="15240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2098000" cy="1524000"/>
            </a:xfrm>
            <a:custGeom>
              <a:avLst/>
              <a:gdLst/>
              <a:ahLst/>
              <a:cxnLst/>
              <a:rect r="r" b="b" t="t" l="l"/>
              <a:pathLst>
                <a:path h="1524000" w="22098000">
                  <a:moveTo>
                    <a:pt x="0" y="0"/>
                  </a:moveTo>
                  <a:lnTo>
                    <a:pt x="22098000" y="0"/>
                  </a:lnTo>
                  <a:lnTo>
                    <a:pt x="22098000" y="1524000"/>
                  </a:lnTo>
                  <a:lnTo>
                    <a:pt x="0" y="1524000"/>
                  </a:lnTo>
                  <a:close/>
                </a:path>
              </a:pathLst>
            </a:custGeom>
            <a:solidFill>
              <a:srgbClr val="F4F7F3"/>
            </a:solidFill>
            <a:ln w="9525" cap="sq">
              <a:solidFill>
                <a:srgbClr val="CBD8D3"/>
              </a:solidFill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22098000" cy="156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1143000" y="5200650"/>
            <a:ext cx="3048000" cy="657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25"/>
              </a:lnSpc>
              <a:spcBef>
                <a:spcPct val="0"/>
              </a:spcBef>
            </a:pPr>
            <a:r>
              <a:rPr lang="en-US" b="true" sz="1875" strike="noStrike" u="none">
                <a:solidFill>
                  <a:srgbClr val="132522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Martín Muñoz · Data Engineer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4953000" y="5210175"/>
            <a:ext cx="6191250" cy="594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415"/>
              </a:lnSpc>
              <a:spcBef>
                <a:spcPct val="0"/>
              </a:spcBef>
            </a:pPr>
            <a:r>
              <a:rPr lang="en-US" sz="1725" strike="noStrike" u="none">
                <a:solidFill>
                  <a:srgbClr val="132522"/>
                </a:solidFill>
                <a:latin typeface="Open Sans"/>
                <a:ea typeface="Open Sans"/>
                <a:cs typeface="Open Sans"/>
                <a:sym typeface="Open Sans"/>
              </a:rPr>
              <a:t>Motor de scraping Cloudscraper/BS4 y limpieza con Polars/JSONB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001500" y="5210175"/>
            <a:ext cx="4762500" cy="289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415"/>
              </a:lnSpc>
              <a:spcBef>
                <a:spcPct val="0"/>
              </a:spcBef>
            </a:pPr>
            <a:r>
              <a:rPr lang="en-US" sz="1725" strike="noStrike" u="none">
                <a:solidFill>
                  <a:srgbClr val="132522"/>
                </a:solidFill>
                <a:latin typeface="Open Sans"/>
                <a:ea typeface="Open Sans"/>
                <a:cs typeface="Open Sans"/>
                <a:sym typeface="Open Sans"/>
              </a:rPr>
              <a:t>scrapers/scrapin.py · producs.py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857250" y="6286500"/>
            <a:ext cx="16573500" cy="1143000"/>
            <a:chOff x="0" y="0"/>
            <a:chExt cx="22098000" cy="15240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2098000" cy="1524000"/>
            </a:xfrm>
            <a:custGeom>
              <a:avLst/>
              <a:gdLst/>
              <a:ahLst/>
              <a:cxnLst/>
              <a:rect r="r" b="b" t="t" l="l"/>
              <a:pathLst>
                <a:path h="1524000" w="22098000">
                  <a:moveTo>
                    <a:pt x="0" y="0"/>
                  </a:moveTo>
                  <a:lnTo>
                    <a:pt x="22098000" y="0"/>
                  </a:lnTo>
                  <a:lnTo>
                    <a:pt x="22098000" y="1524000"/>
                  </a:lnTo>
                  <a:lnTo>
                    <a:pt x="0" y="1524000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CBD8D3"/>
              </a:solidFill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22098000" cy="156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1143000" y="6486525"/>
            <a:ext cx="3048000" cy="657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25"/>
              </a:lnSpc>
              <a:spcBef>
                <a:spcPct val="0"/>
              </a:spcBef>
            </a:pPr>
            <a:r>
              <a:rPr lang="en-US" b="true" sz="1875" strike="noStrike" u="none">
                <a:solidFill>
                  <a:srgbClr val="132522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Iván Sepulveda · Full-Stack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4953000" y="6496050"/>
            <a:ext cx="6191250" cy="289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415"/>
              </a:lnSpc>
              <a:spcBef>
                <a:spcPct val="0"/>
              </a:spcBef>
            </a:pPr>
            <a:r>
              <a:rPr lang="en-US" sz="1725" strike="noStrike" u="none">
                <a:solidFill>
                  <a:srgbClr val="132522"/>
                </a:solidFill>
                <a:latin typeface="Open Sans"/>
                <a:ea typeface="Open Sans"/>
                <a:cs typeface="Open Sans"/>
                <a:sym typeface="Open Sans"/>
              </a:rPr>
              <a:t>Frontend NutriCode (Astro/Tailwind) y API FastAPI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2001500" y="6496050"/>
            <a:ext cx="4762500" cy="289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415"/>
              </a:lnSpc>
              <a:spcBef>
                <a:spcPct val="0"/>
              </a:spcBef>
            </a:pPr>
            <a:r>
              <a:rPr lang="en-US" sz="1725" strike="noStrike" u="none">
                <a:solidFill>
                  <a:srgbClr val="132522"/>
                </a:solidFill>
                <a:latin typeface="Open Sans"/>
                <a:ea typeface="Open Sans"/>
                <a:cs typeface="Open Sans"/>
                <a:sym typeface="Open Sans"/>
              </a:rPr>
              <a:t>NutriCode/ · Commits GitHub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857250" y="7572375"/>
            <a:ext cx="16573500" cy="1143000"/>
            <a:chOff x="0" y="0"/>
            <a:chExt cx="22098000" cy="15240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2098000" cy="1524000"/>
            </a:xfrm>
            <a:custGeom>
              <a:avLst/>
              <a:gdLst/>
              <a:ahLst/>
              <a:cxnLst/>
              <a:rect r="r" b="b" t="t" l="l"/>
              <a:pathLst>
                <a:path h="1524000" w="22098000">
                  <a:moveTo>
                    <a:pt x="0" y="0"/>
                  </a:moveTo>
                  <a:lnTo>
                    <a:pt x="22098000" y="0"/>
                  </a:lnTo>
                  <a:lnTo>
                    <a:pt x="22098000" y="1524000"/>
                  </a:lnTo>
                  <a:lnTo>
                    <a:pt x="0" y="1524000"/>
                  </a:lnTo>
                  <a:close/>
                </a:path>
              </a:pathLst>
            </a:custGeom>
            <a:solidFill>
              <a:srgbClr val="F4F7F3"/>
            </a:solidFill>
            <a:ln w="9525" cap="sq">
              <a:solidFill>
                <a:srgbClr val="CBD8D3"/>
              </a:solidFill>
              <a:prstDash val="solid"/>
              <a:miter/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22098000" cy="156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31" id="31"/>
          <p:cNvSpPr txBox="true"/>
          <p:nvPr/>
        </p:nvSpPr>
        <p:spPr>
          <a:xfrm rot="0">
            <a:off x="1143000" y="7772400"/>
            <a:ext cx="3048000" cy="657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25"/>
              </a:lnSpc>
              <a:spcBef>
                <a:spcPct val="0"/>
              </a:spcBef>
            </a:pPr>
            <a:r>
              <a:rPr lang="en-US" b="true" sz="1875" strike="noStrike" u="none">
                <a:solidFill>
                  <a:srgbClr val="132522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Documentación Ágil y UML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4953000" y="7781925"/>
            <a:ext cx="6191250" cy="594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415"/>
              </a:lnSpc>
              <a:spcBef>
                <a:spcPct val="0"/>
              </a:spcBef>
            </a:pPr>
            <a:r>
              <a:rPr lang="en-US" sz="1725" strike="noStrike" u="none">
                <a:solidFill>
                  <a:srgbClr val="132522"/>
                </a:solidFill>
                <a:latin typeface="Open Sans"/>
                <a:ea typeface="Open Sans"/>
                <a:cs typeface="Open Sans"/>
                <a:sym typeface="Open Sans"/>
              </a:rPr>
              <a:t>Vision, Backlog, DoD y Diseño UML (Casos de Uso, E-R, Secuencia)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2001500" y="7781925"/>
            <a:ext cx="4762500" cy="289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415"/>
              </a:lnSpc>
              <a:spcBef>
                <a:spcPct val="0"/>
              </a:spcBef>
            </a:pPr>
            <a:r>
              <a:rPr lang="en-US" sz="1725" strike="noStrike" u="none">
                <a:solidFill>
                  <a:srgbClr val="132522"/>
                </a:solidFill>
                <a:latin typeface="Open Sans"/>
                <a:ea typeface="Open Sans"/>
                <a:cs typeface="Open Sans"/>
                <a:sym typeface="Open Sans"/>
              </a:rPr>
              <a:t>Fase 2/ Documentos 01 al 05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F4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52500" y="771525"/>
            <a:ext cx="12382500" cy="5996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98"/>
              </a:lnSpc>
            </a:pPr>
            <a:r>
              <a:rPr lang="en-US" sz="4350" b="true">
                <a:solidFill>
                  <a:srgbClr val="13252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Monitorear, escuchar, ajustar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52500" y="1447800"/>
            <a:ext cx="13335000" cy="340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sz="2100">
                <a:solidFill>
                  <a:srgbClr val="61716E"/>
                </a:solidFill>
                <a:latin typeface="Open Sans"/>
                <a:ea typeface="Open Sans"/>
                <a:cs typeface="Open Sans"/>
                <a:sym typeface="Open Sans"/>
              </a:rPr>
              <a:t>La retroalimentación docente se traduce en decisiones concretas de alcance y calidad.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952500" y="2857500"/>
            <a:ext cx="4762500" cy="5448300"/>
            <a:chOff x="0" y="0"/>
            <a:chExt cx="6350000" cy="7264400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0" y="0"/>
              <a:ext cx="6350000" cy="7264400"/>
              <a:chOff x="0" y="0"/>
              <a:chExt cx="6350000" cy="7264400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6350000" cy="7264400"/>
              </a:xfrm>
              <a:custGeom>
                <a:avLst/>
                <a:gdLst/>
                <a:ahLst/>
                <a:cxnLst/>
                <a:rect r="r" b="b" t="t" l="l"/>
                <a:pathLst>
                  <a:path h="7264400" w="6350000">
                    <a:moveTo>
                      <a:pt x="0" y="0"/>
                    </a:moveTo>
                    <a:lnTo>
                      <a:pt x="6350000" y="0"/>
                    </a:lnTo>
                    <a:lnTo>
                      <a:pt x="6350000" y="7264400"/>
                    </a:lnTo>
                    <a:lnTo>
                      <a:pt x="0" y="7264400"/>
                    </a:lnTo>
                    <a:close/>
                  </a:path>
                </a:pathLst>
              </a:custGeom>
              <a:solidFill>
                <a:srgbClr val="FFFFFF"/>
              </a:solidFill>
              <a:ln w="28575" cap="sq">
                <a:solidFill>
                  <a:srgbClr val="253A38"/>
                </a:solidFill>
                <a:prstDash val="solid"/>
                <a:miter/>
              </a:ln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38100"/>
                <a:ext cx="6350000" cy="7302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8" id="8"/>
            <p:cNvSpPr txBox="true"/>
            <p:nvPr/>
          </p:nvSpPr>
          <p:spPr>
            <a:xfrm rot="0">
              <a:off x="571500" y="796925"/>
              <a:ext cx="5080000" cy="3765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15"/>
                </a:lnSpc>
              </a:pPr>
              <a:r>
                <a:rPr lang="en-US" sz="1725" spc="138" b="true">
                  <a:solidFill>
                    <a:srgbClr val="253A38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DIFICULTÓ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571500" y="1765300"/>
              <a:ext cx="5334000" cy="28638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487"/>
                </a:lnSpc>
                <a:spcBef>
                  <a:spcPct val="0"/>
                </a:spcBef>
              </a:pPr>
              <a:r>
                <a:rPr lang="en-US" b="true" sz="2250" strike="noStrike" u="none">
                  <a:solidFill>
                    <a:srgbClr val="132522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DOM dinámico en tiendas</a:t>
              </a:r>
            </a:p>
            <a:p>
              <a:pPr algn="l" marL="0" indent="0" lvl="0">
                <a:lnSpc>
                  <a:spcPts val="3487"/>
                </a:lnSpc>
                <a:spcBef>
                  <a:spcPct val="0"/>
                </a:spcBef>
              </a:pPr>
              <a:r>
                <a:rPr lang="en-US" b="true" sz="2250" strike="noStrike" u="none">
                  <a:solidFill>
                    <a:srgbClr val="132522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Formatos dispares de precios</a:t>
              </a:r>
            </a:p>
            <a:p>
              <a:pPr algn="l" marL="0" indent="0" lvl="0">
                <a:lnSpc>
                  <a:spcPts val="3487"/>
                </a:lnSpc>
                <a:spcBef>
                  <a:spcPct val="0"/>
                </a:spcBef>
              </a:pPr>
              <a:r>
                <a:rPr lang="en-US" b="true" sz="2250" strike="noStrike" u="none">
                  <a:solidFill>
                    <a:srgbClr val="132522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Evitar registros duplicados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381750" y="2857500"/>
            <a:ext cx="4762500" cy="5486400"/>
            <a:chOff x="0" y="0"/>
            <a:chExt cx="6350000" cy="7315200"/>
          </a:xfrm>
        </p:grpSpPr>
        <p:grpSp>
          <p:nvGrpSpPr>
            <p:cNvPr name="Group 11" id="11"/>
            <p:cNvGrpSpPr/>
            <p:nvPr/>
          </p:nvGrpSpPr>
          <p:grpSpPr>
            <a:xfrm rot="0">
              <a:off x="0" y="0"/>
              <a:ext cx="6350000" cy="7315200"/>
              <a:chOff x="0" y="0"/>
              <a:chExt cx="6350000" cy="7315200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6350000" cy="7315200"/>
              </a:xfrm>
              <a:custGeom>
                <a:avLst/>
                <a:gdLst/>
                <a:ahLst/>
                <a:cxnLst/>
                <a:rect r="r" b="b" t="t" l="l"/>
                <a:pathLst>
                  <a:path h="7315200" w="6350000">
                    <a:moveTo>
                      <a:pt x="0" y="0"/>
                    </a:moveTo>
                    <a:lnTo>
                      <a:pt x="6350000" y="0"/>
                    </a:lnTo>
                    <a:lnTo>
                      <a:pt x="6350000" y="7315200"/>
                    </a:lnTo>
                    <a:lnTo>
                      <a:pt x="0" y="7315200"/>
                    </a:lnTo>
                    <a:close/>
                  </a:path>
                </a:pathLst>
              </a:custGeom>
              <a:solidFill>
                <a:srgbClr val="FFFFFF"/>
              </a:solidFill>
              <a:ln w="28575" cap="sq">
                <a:solidFill>
                  <a:srgbClr val="00A878"/>
                </a:solidFill>
                <a:prstDash val="solid"/>
                <a:miter/>
              </a:ln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0" y="-38100"/>
                <a:ext cx="6350000" cy="73533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4" id="14"/>
            <p:cNvSpPr txBox="true"/>
            <p:nvPr/>
          </p:nvSpPr>
          <p:spPr>
            <a:xfrm rot="0">
              <a:off x="571500" y="796925"/>
              <a:ext cx="5080000" cy="3765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15"/>
                </a:lnSpc>
              </a:pPr>
              <a:r>
                <a:rPr lang="en-US" sz="1725" spc="138" b="true">
                  <a:solidFill>
                    <a:srgbClr val="00A878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FACILITÓ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571500" y="1755775"/>
              <a:ext cx="5334000" cy="29959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3"/>
                </a:lnSpc>
                <a:spcBef>
                  <a:spcPct val="0"/>
                </a:spcBef>
              </a:pPr>
              <a:r>
                <a:rPr lang="en-US" b="true" sz="2325" strike="noStrike" u="none">
                  <a:solidFill>
                    <a:srgbClr val="132522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Stack Astro + FastAPI + Supabase</a:t>
              </a:r>
            </a:p>
            <a:p>
              <a:pPr algn="l" marL="0" indent="0" lvl="0">
                <a:lnSpc>
                  <a:spcPts val="3603"/>
                </a:lnSpc>
                <a:spcBef>
                  <a:spcPct val="0"/>
                </a:spcBef>
              </a:pPr>
              <a:r>
                <a:rPr lang="en-US" b="true" sz="2325" strike="noStrike" u="none">
                  <a:solidFill>
                    <a:srgbClr val="132522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Columna JSONB flexible</a:t>
              </a:r>
            </a:p>
            <a:p>
              <a:pPr algn="l" marL="0" indent="0" lvl="0">
                <a:lnSpc>
                  <a:spcPts val="3603"/>
                </a:lnSpc>
                <a:spcBef>
                  <a:spcPct val="0"/>
                </a:spcBef>
              </a:pPr>
              <a:r>
                <a:rPr lang="en-US" b="true" sz="2325" strike="noStrike" u="none">
                  <a:solidFill>
                    <a:srgbClr val="132522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Roles claros por integrante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1811000" y="2857500"/>
            <a:ext cx="4762500" cy="5486400"/>
            <a:chOff x="0" y="0"/>
            <a:chExt cx="6350000" cy="7315200"/>
          </a:xfrm>
        </p:grpSpPr>
        <p:grpSp>
          <p:nvGrpSpPr>
            <p:cNvPr name="Group 17" id="17"/>
            <p:cNvGrpSpPr/>
            <p:nvPr/>
          </p:nvGrpSpPr>
          <p:grpSpPr>
            <a:xfrm rot="0">
              <a:off x="0" y="0"/>
              <a:ext cx="6350000" cy="7315200"/>
              <a:chOff x="0" y="0"/>
              <a:chExt cx="6350000" cy="7315200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6350000" cy="7315200"/>
              </a:xfrm>
              <a:custGeom>
                <a:avLst/>
                <a:gdLst/>
                <a:ahLst/>
                <a:cxnLst/>
                <a:rect r="r" b="b" t="t" l="l"/>
                <a:pathLst>
                  <a:path h="7315200" w="6350000">
                    <a:moveTo>
                      <a:pt x="0" y="0"/>
                    </a:moveTo>
                    <a:lnTo>
                      <a:pt x="6350000" y="0"/>
                    </a:lnTo>
                    <a:lnTo>
                      <a:pt x="6350000" y="7315200"/>
                    </a:lnTo>
                    <a:lnTo>
                      <a:pt x="0" y="7315200"/>
                    </a:lnTo>
                    <a:close/>
                  </a:path>
                </a:pathLst>
              </a:custGeom>
              <a:solidFill>
                <a:srgbClr val="FFFFFF"/>
              </a:solidFill>
              <a:ln w="28575" cap="sq">
                <a:solidFill>
                  <a:srgbClr val="F1B24A"/>
                </a:solidFill>
                <a:prstDash val="solid"/>
                <a:miter/>
              </a:ln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0" y="-38100"/>
                <a:ext cx="6350000" cy="73533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0" id="20"/>
            <p:cNvSpPr txBox="true"/>
            <p:nvPr/>
          </p:nvSpPr>
          <p:spPr>
            <a:xfrm rot="0">
              <a:off x="571500" y="796925"/>
              <a:ext cx="5080000" cy="3765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415"/>
                </a:lnSpc>
                <a:spcBef>
                  <a:spcPct val="0"/>
                </a:spcBef>
              </a:pPr>
              <a:r>
                <a:rPr lang="en-US" b="true" sz="1725" spc="138" strike="noStrike" u="none">
                  <a:solidFill>
                    <a:srgbClr val="F1B24A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RETROALIMENTACIÓN</a:t>
              </a:r>
            </a:p>
          </p:txBody>
        </p:sp>
        <p:sp>
          <p:nvSpPr>
            <p:cNvPr name="TextBox 21" id="21"/>
            <p:cNvSpPr txBox="true"/>
            <p:nvPr/>
          </p:nvSpPr>
          <p:spPr>
            <a:xfrm rot="0">
              <a:off x="571500" y="1755775"/>
              <a:ext cx="5334000" cy="29959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3"/>
                </a:lnSpc>
                <a:spcBef>
                  <a:spcPct val="0"/>
                </a:spcBef>
              </a:pPr>
              <a:r>
                <a:rPr lang="en-US" b="true" sz="2325" strike="noStrike" u="none">
                  <a:solidFill>
                    <a:srgbClr val="132522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Docente (Felipe Krauss):</a:t>
              </a:r>
            </a:p>
            <a:p>
              <a:pPr algn="l" marL="0" indent="0" lvl="0">
                <a:lnSpc>
                  <a:spcPts val="3603"/>
                </a:lnSpc>
                <a:spcBef>
                  <a:spcPct val="0"/>
                </a:spcBef>
              </a:pPr>
              <a:r>
                <a:rPr lang="en-US" b="true" sz="2325" strike="noStrike" u="none">
                  <a:solidFill>
                    <a:srgbClr val="132522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Evidencia en video de BBDD</a:t>
              </a:r>
            </a:p>
            <a:p>
              <a:pPr algn="l" marL="0" indent="0" lvl="0">
                <a:lnSpc>
                  <a:spcPts val="3603"/>
                </a:lnSpc>
                <a:spcBef>
                  <a:spcPct val="0"/>
                </a:spcBef>
              </a:pPr>
              <a:r>
                <a:rPr lang="en-US" b="true" sz="2325" strike="noStrike" u="none">
                  <a:solidFill>
                    <a:srgbClr val="132522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Docs 01–05 y Actas en GitHub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0F25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52500" y="819150"/>
            <a:ext cx="9525000" cy="5996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98"/>
              </a:lnSpc>
            </a:pPr>
            <a:r>
              <a:rPr lang="en-US" sz="435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Del avance al PMV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52500" y="1543050"/>
            <a:ext cx="11430000" cy="340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sz="2100">
                <a:solidFill>
                  <a:srgbClr val="BFE8D9"/>
                </a:solidFill>
                <a:latin typeface="Open Sans"/>
                <a:ea typeface="Open Sans"/>
                <a:cs typeface="Open Sans"/>
                <a:sym typeface="Open Sans"/>
              </a:rPr>
              <a:t>Los Sprints restantes concentran integración, validación y cierre.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238250" y="3668173"/>
            <a:ext cx="952500" cy="3781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2"/>
              </a:lnSpc>
            </a:pPr>
            <a:r>
              <a:rPr lang="en-US" sz="2850" b="true">
                <a:solidFill>
                  <a:srgbClr val="00A87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01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571750" y="3499675"/>
            <a:ext cx="9525000" cy="6960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54"/>
              </a:lnSpc>
              <a:spcBef>
                <a:spcPct val="0"/>
              </a:spcBef>
            </a:pPr>
            <a:r>
              <a:rPr lang="en-US" b="true" sz="2550" strike="noStrike" u="non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Cerrar Sprint 3: Conectar API FastAPI con buscador Astro</a:t>
            </a:r>
          </a:p>
        </p:txBody>
      </p:sp>
      <p:sp>
        <p:nvSpPr>
          <p:cNvPr name="AutoShape 6" id="6"/>
          <p:cNvSpPr/>
          <p:nvPr/>
        </p:nvSpPr>
        <p:spPr>
          <a:xfrm>
            <a:off x="1238250" y="4476750"/>
            <a:ext cx="12287250" cy="0"/>
          </a:xfrm>
          <a:prstGeom prst="line">
            <a:avLst/>
          </a:prstGeom>
          <a:ln cap="flat" w="9525">
            <a:solidFill>
              <a:srgbClr val="253A3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7" id="7"/>
          <p:cNvSpPr txBox="true"/>
          <p:nvPr/>
        </p:nvSpPr>
        <p:spPr>
          <a:xfrm rot="0">
            <a:off x="1238250" y="4954429"/>
            <a:ext cx="952500" cy="3781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2"/>
              </a:lnSpc>
            </a:pPr>
            <a:r>
              <a:rPr lang="en-US" sz="2850" b="true">
                <a:solidFill>
                  <a:srgbClr val="00A87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02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571750" y="4785931"/>
            <a:ext cx="9525000" cy="6960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54"/>
              </a:lnSpc>
              <a:spcBef>
                <a:spcPct val="0"/>
              </a:spcBef>
            </a:pPr>
            <a:r>
              <a:rPr lang="en-US" b="true" sz="2550" strike="noStrike" u="non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Sprint 4: Comparador multi-tienda y redirección url_origen</a:t>
            </a:r>
          </a:p>
        </p:txBody>
      </p:sp>
      <p:sp>
        <p:nvSpPr>
          <p:cNvPr name="AutoShape 9" id="9"/>
          <p:cNvSpPr/>
          <p:nvPr/>
        </p:nvSpPr>
        <p:spPr>
          <a:xfrm>
            <a:off x="1238250" y="5762625"/>
            <a:ext cx="12287250" cy="0"/>
          </a:xfrm>
          <a:prstGeom prst="line">
            <a:avLst/>
          </a:prstGeom>
          <a:ln cap="flat" w="9525">
            <a:solidFill>
              <a:srgbClr val="253A3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0" id="10"/>
          <p:cNvSpPr txBox="true"/>
          <p:nvPr/>
        </p:nvSpPr>
        <p:spPr>
          <a:xfrm rot="0">
            <a:off x="1238250" y="6240304"/>
            <a:ext cx="952500" cy="3781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2"/>
              </a:lnSpc>
            </a:pPr>
            <a:r>
              <a:rPr lang="en-US" sz="2850" b="true">
                <a:solidFill>
                  <a:srgbClr val="00A87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03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571750" y="6243257"/>
            <a:ext cx="9525000" cy="3531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54"/>
              </a:lnSpc>
              <a:spcBef>
                <a:spcPct val="0"/>
              </a:spcBef>
            </a:pPr>
            <a:r>
              <a:rPr lang="en-US" b="true" sz="2550" strike="noStrike" u="non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Sprint 4: Perfil, listas de compras y Dashboard en React</a:t>
            </a:r>
          </a:p>
        </p:txBody>
      </p:sp>
      <p:sp>
        <p:nvSpPr>
          <p:cNvPr name="AutoShape 12" id="12"/>
          <p:cNvSpPr/>
          <p:nvPr/>
        </p:nvSpPr>
        <p:spPr>
          <a:xfrm>
            <a:off x="1238250" y="7048500"/>
            <a:ext cx="12287250" cy="0"/>
          </a:xfrm>
          <a:prstGeom prst="line">
            <a:avLst/>
          </a:prstGeom>
          <a:ln cap="flat" w="9525">
            <a:solidFill>
              <a:srgbClr val="253A3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3" id="13"/>
          <p:cNvSpPr txBox="true"/>
          <p:nvPr/>
        </p:nvSpPr>
        <p:spPr>
          <a:xfrm rot="0">
            <a:off x="1238250" y="7526560"/>
            <a:ext cx="952500" cy="3781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2"/>
              </a:lnSpc>
            </a:pPr>
            <a:r>
              <a:rPr lang="en-US" sz="2850" b="true">
                <a:solidFill>
                  <a:srgbClr val="00A87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04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571750" y="7529513"/>
            <a:ext cx="9525000" cy="3531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54"/>
              </a:lnSpc>
              <a:spcBef>
                <a:spcPct val="0"/>
              </a:spcBef>
            </a:pPr>
            <a:r>
              <a:rPr lang="en-US" b="true" sz="2550" strike="noStrike" u="non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Sprint 5: Despliegue en Cloudflare Pages y pruebas DoD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4382750" y="3810000"/>
            <a:ext cx="2381250" cy="2381250"/>
            <a:chOff x="0" y="0"/>
            <a:chExt cx="3175000" cy="31750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3175000" cy="3175000"/>
            </a:xfrm>
            <a:custGeom>
              <a:avLst/>
              <a:gdLst/>
              <a:ahLst/>
              <a:cxnLst/>
              <a:rect r="r" b="b" t="t" l="l"/>
              <a:pathLst>
                <a:path h="3175000" w="3175000">
                  <a:moveTo>
                    <a:pt x="1587500" y="0"/>
                  </a:moveTo>
                  <a:cubicBezTo>
                    <a:pt x="2464252" y="0"/>
                    <a:pt x="3175000" y="710748"/>
                    <a:pt x="3175000" y="1587500"/>
                  </a:cubicBezTo>
                  <a:cubicBezTo>
                    <a:pt x="3175000" y="2464252"/>
                    <a:pt x="2464252" y="3175000"/>
                    <a:pt x="1587500" y="3175000"/>
                  </a:cubicBezTo>
                  <a:cubicBezTo>
                    <a:pt x="710748" y="3175000"/>
                    <a:pt x="0" y="2464252"/>
                    <a:pt x="0" y="1587500"/>
                  </a:cubicBezTo>
                  <a:cubicBezTo>
                    <a:pt x="0" y="710748"/>
                    <a:pt x="710748" y="0"/>
                    <a:pt x="1587500" y="0"/>
                  </a:cubicBezTo>
                  <a:close/>
                </a:path>
              </a:pathLst>
            </a:custGeom>
            <a:solidFill>
              <a:srgbClr val="00A878"/>
            </a:solidFill>
            <a:ln cap="sq">
              <a:noFill/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66675"/>
              <a:ext cx="3175000" cy="32416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670"/>
                </a:lnSpc>
              </a:pPr>
              <a:r>
                <a:rPr lang="en-US" sz="4050" b="tru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PMV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25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144000" y="0"/>
            <a:ext cx="9144000" cy="10287000"/>
          </a:xfrm>
          <a:custGeom>
            <a:avLst/>
            <a:gdLst/>
            <a:ahLst/>
            <a:cxnLst/>
            <a:rect r="r" b="b" t="t" l="l"/>
            <a:pathLst>
              <a:path h="10287000" w="9144000">
                <a:moveTo>
                  <a:pt x="0" y="0"/>
                </a:moveTo>
                <a:lnTo>
                  <a:pt x="9144000" y="0"/>
                </a:lnTo>
                <a:lnTo>
                  <a:pt x="9144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78" r="0" b="-78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3" id="3"/>
          <p:cNvGrpSpPr/>
          <p:nvPr/>
        </p:nvGrpSpPr>
        <p:grpSpPr>
          <a:xfrm rot="0">
            <a:off x="8572500" y="0"/>
            <a:ext cx="2857500" cy="10287000"/>
            <a:chOff x="0" y="0"/>
            <a:chExt cx="3810000" cy="13716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810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3810000">
                  <a:moveTo>
                    <a:pt x="0" y="0"/>
                  </a:moveTo>
                  <a:lnTo>
                    <a:pt x="3810000" y="0"/>
                  </a:lnTo>
                  <a:lnTo>
                    <a:pt x="3810000" y="13716000"/>
                  </a:lnTo>
                  <a:lnTo>
                    <a:pt x="0" y="13716000"/>
                  </a:lnTo>
                  <a:close/>
                </a:path>
              </a:pathLst>
            </a:custGeom>
            <a:gradFill rotWithShape="true">
              <a:gsLst>
                <a:gs pos="0">
                  <a:srgbClr val="0F2523">
                    <a:alpha val="100000"/>
                  </a:srgbClr>
                </a:gs>
                <a:gs pos="100000">
                  <a:srgbClr val="0F2523">
                    <a:alpha val="0"/>
                  </a:srgbClr>
                </a:gs>
              </a:gsLst>
              <a:lin ang="16200000"/>
            </a:gra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3810000" cy="137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952500" y="1682118"/>
            <a:ext cx="7239000" cy="22136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09"/>
              </a:lnSpc>
            </a:pPr>
            <a:r>
              <a:rPr lang="en-US" sz="8199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NutriFind</a:t>
            </a:r>
          </a:p>
          <a:p>
            <a:pPr algn="l">
              <a:lnSpc>
                <a:spcPts val="8609"/>
              </a:lnSpc>
            </a:pPr>
            <a:r>
              <a:rPr lang="en-US" sz="8199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en acción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52500" y="4467225"/>
            <a:ext cx="6191250" cy="3958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8"/>
              </a:lnSpc>
            </a:pPr>
            <a:r>
              <a:rPr lang="en-US" sz="285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Video demostrativo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52500" y="5528081"/>
            <a:ext cx="3944949" cy="17412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77"/>
              </a:lnSpc>
            </a:pPr>
            <a:r>
              <a:rPr lang="en-US" sz="6677" b="true">
                <a:solidFill>
                  <a:srgbClr val="00A87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03:00 aprox.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52500" y="7781925"/>
            <a:ext cx="6858000" cy="340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sz="2100">
                <a:solidFill>
                  <a:srgbClr val="BFE8D9"/>
                </a:solidFill>
                <a:latin typeface="Open Sans"/>
                <a:ea typeface="Open Sans"/>
                <a:cs typeface="Open Sans"/>
                <a:sym typeface="Open Sans"/>
              </a:rPr>
              <a:t>Flujo completo · búsqueda · filtros · comparación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25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>
            <a:hlinkClick action="ppaction://media"/>
          </p:cNvPr>
          <p:cNvPicPr>
            <a:picLocks noChangeAspect="true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dur="indefinite" restart="never" nodeType="tmRoot">
          <p:childTnLst>
            <p:video>
              <p:cMediaNode vol="100000">
                <p:cTn fill="hold" display="false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DAHYadOL_Ds</dc:identifier>
  <dcterms:modified xsi:type="dcterms:W3CDTF">2011-08-01T06:04:30Z</dcterms:modified>
  <cp:revision>1</cp:revision>
  <dc:title>NutriFind · Informe de Avance APT (Estructura Registrapp 11 Láminas)</dc:title>
</cp:coreProperties>
</file>
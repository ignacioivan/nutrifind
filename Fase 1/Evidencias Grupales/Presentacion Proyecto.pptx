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Open Sans Bold" charset="1" panose="020B0806030504020204"/>
      <p:regular r:id="rId18"/>
    </p:embeddedFont>
    <p:embeddedFont>
      <p:font typeface="Poppins" charset="1" panose="00000500000000000000"/>
      <p:regular r:id="rId19"/>
    </p:embeddedFont>
    <p:embeddedFont>
      <p:font typeface="Poppins Medium" charset="1" panose="00000600000000000000"/>
      <p:regular r:id="rId20"/>
    </p:embeddedFont>
    <p:embeddedFont>
      <p:font typeface="Open Sans" charset="1" panose="020B0606030504020204"/>
      <p:regular r:id="rId21"/>
    </p:embeddedFont>
    <p:embeddedFont>
      <p:font typeface="League Spartan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45659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6481425" y="3075418"/>
            <a:ext cx="0" cy="58735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12036" y="1586067"/>
            <a:ext cx="10472652" cy="216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2"/>
              </a:lnSpc>
            </a:pPr>
            <a:r>
              <a:rPr lang="en-US" sz="12015" b="true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Propuesta de</a:t>
            </a:r>
          </a:p>
        </p:txBody>
      </p:sp>
      <p:sp>
        <p:nvSpPr>
          <p:cNvPr name="TextBox 7" id="7"/>
          <p:cNvSpPr txBox="true"/>
          <p:nvPr/>
        </p:nvSpPr>
        <p:spPr>
          <a:xfrm rot="5400000">
            <a:off x="15707836" y="1940832"/>
            <a:ext cx="163036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6B83F4"/>
                </a:solidFill>
                <a:latin typeface="Poppins Bold"/>
                <a:ea typeface="Poppins Bold"/>
                <a:cs typeface="Poppins Bold"/>
                <a:sym typeface="Poppins Bold"/>
              </a:rPr>
              <a:t>NUTRIFIND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2036" y="3226703"/>
            <a:ext cx="12833819" cy="430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2"/>
              </a:lnSpc>
            </a:pPr>
            <a:r>
              <a:rPr lang="en-US" sz="12015" b="true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</a:t>
            </a:r>
            <a:r>
              <a:rPr lang="en-US" sz="12015" b="true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2015" b="true">
                <a:solidFill>
                  <a:srgbClr val="6B83F4"/>
                </a:solidFill>
                <a:latin typeface="Poppins Bold"/>
                <a:ea typeface="Poppins Bold"/>
                <a:cs typeface="Poppins Bold"/>
                <a:sym typeface="Poppins Bold"/>
              </a:rPr>
              <a:t>NutriFind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901317"/>
            <a:ext cx="761443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2E2E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Integrantes: Martín Muñoz, Pedro Mallea e Iván Sepulveda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25422" y="514350"/>
            <a:ext cx="6348228" cy="9258300"/>
            <a:chOff x="0" y="0"/>
            <a:chExt cx="1671961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1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1961">
                  <a:moveTo>
                    <a:pt x="0" y="0"/>
                  </a:moveTo>
                  <a:lnTo>
                    <a:pt x="1671961" y="0"/>
                  </a:lnTo>
                  <a:lnTo>
                    <a:pt x="1671961" y="2438400"/>
                  </a:lnTo>
                  <a:lnTo>
                    <a:pt x="0" y="2438400"/>
                  </a:lnTo>
                  <a:close/>
                </a:path>
              </a:pathLst>
            </a:custGeom>
            <a:gradFill rotWithShape="true">
              <a:gsLst>
                <a:gs pos="0">
                  <a:srgbClr val="5271FF">
                    <a:alpha val="50000"/>
                  </a:srgbClr>
                </a:gs>
                <a:gs pos="100000">
                  <a:srgbClr val="FFA5FF">
                    <a:alpha val="5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671961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25422" y="514350"/>
            <a:ext cx="6348228" cy="9271328"/>
            <a:chOff x="0" y="0"/>
            <a:chExt cx="983507" cy="1436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3507" cy="1436371"/>
            </a:xfrm>
            <a:custGeom>
              <a:avLst/>
              <a:gdLst/>
              <a:ahLst/>
              <a:cxnLst/>
              <a:rect r="r" b="b" t="t" l="l"/>
              <a:pathLst>
                <a:path h="1436371" w="983507">
                  <a:moveTo>
                    <a:pt x="0" y="0"/>
                  </a:moveTo>
                  <a:lnTo>
                    <a:pt x="983507" y="0"/>
                  </a:lnTo>
                  <a:lnTo>
                    <a:pt x="983507" y="1436371"/>
                  </a:lnTo>
                  <a:lnTo>
                    <a:pt x="0" y="1436371"/>
                  </a:lnTo>
                  <a:close/>
                </a:path>
              </a:pathLst>
            </a:custGeom>
            <a:blipFill>
              <a:blip r:embed="rId2"/>
              <a:stretch>
                <a:fillRect l="-79818" t="0" r="-79818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066800"/>
            <a:ext cx="8225895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9"/>
              </a:lnSpc>
              <a:spcBef>
                <a:spcPct val="0"/>
              </a:spcBef>
            </a:pPr>
            <a:r>
              <a:rPr lang="en-US" b="true" sz="5499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¿Por qué?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2036" y="2927569"/>
            <a:ext cx="8225895" cy="654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75" indent="-259087" lvl="1">
              <a:lnSpc>
                <a:spcPts val="2712"/>
              </a:lnSpc>
              <a:buFont typeface="Arial"/>
              <a:buChar char="•"/>
            </a:pPr>
            <a:r>
              <a:rPr lang="en-US" b="true" sz="2400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del Tiempo: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Optimizar la búsqueda de alimentos específicos para personas con restricciones alimentarias.</a:t>
            </a:r>
          </a:p>
          <a:p>
            <a:pPr algn="l">
              <a:lnSpc>
                <a:spcPts val="2712"/>
              </a:lnSpc>
            </a:pPr>
          </a:p>
          <a:p>
            <a:pPr algn="l" marL="518175" indent="-259087" lvl="1">
              <a:lnSpc>
                <a:spcPts val="2712"/>
              </a:lnSpc>
              <a:buFont typeface="Arial"/>
              <a:buChar char="•"/>
            </a:pPr>
            <a:r>
              <a:rPr lang="en-US" b="true" sz="2400">
                <a:solidFill>
                  <a:srgbClr val="6B83F4"/>
                </a:solidFill>
                <a:latin typeface="Poppins Bold"/>
                <a:ea typeface="Poppins Bold"/>
                <a:cs typeface="Poppins Bold"/>
                <a:sym typeface="Poppins Bold"/>
              </a:rPr>
              <a:t>In</a:t>
            </a:r>
            <a:r>
              <a:rPr lang="en-US" b="true" sz="2400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formación Descentralizada: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Agilizar la evaluación y comparación de estos productos concentrándolos en una sola plataforma.</a:t>
            </a:r>
          </a:p>
          <a:p>
            <a:pPr algn="l">
              <a:lnSpc>
                <a:spcPts val="2712"/>
              </a:lnSpc>
            </a:pPr>
          </a:p>
          <a:p>
            <a:pPr algn="l" marL="518175" indent="-259087" lvl="1">
              <a:lnSpc>
                <a:spcPts val="2712"/>
              </a:lnSpc>
              <a:buFont typeface="Arial"/>
              <a:buChar char="•"/>
            </a:pPr>
            <a:r>
              <a:rPr lang="en-US" b="true" sz="2400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Personalización Nula: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Falta de información nutricional filtrada de manera estricta basada en el perfil médico de cada usuario.</a:t>
            </a:r>
          </a:p>
          <a:p>
            <a:pPr algn="l">
              <a:lnSpc>
                <a:spcPts val="2712"/>
              </a:lnSpc>
            </a:pPr>
          </a:p>
          <a:p>
            <a:pPr algn="l" marL="518175" indent="-259087" lvl="1">
              <a:lnSpc>
                <a:spcPts val="2712"/>
              </a:lnSpc>
              <a:buFont typeface="Arial"/>
              <a:buChar char="•"/>
            </a:pPr>
            <a:r>
              <a:rPr lang="en-US" b="true" sz="2400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Accesibilidad Limitada: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Baja probabilidad de encontrar stock de productos poco comunes en minimarkets o almacenes locales.</a:t>
            </a:r>
          </a:p>
          <a:p>
            <a:pPr algn="l">
              <a:lnSpc>
                <a:spcPts val="2712"/>
              </a:lnSpc>
            </a:pPr>
          </a:p>
          <a:p>
            <a:pPr algn="l" marL="518175" indent="-259087" lvl="1">
              <a:lnSpc>
                <a:spcPts val="2712"/>
              </a:lnSpc>
              <a:buFont typeface="Arial"/>
              <a:buChar char="•"/>
            </a:pPr>
            <a:r>
              <a:rPr lang="en-US" b="true" sz="2400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Fuerte Impacto Económico: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Sobreprecios severos aplicados en grandes supermercados por productos especializados.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2036" y="2236054"/>
            <a:ext cx="8225895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  <a:spcBef>
                <a:spcPct val="0"/>
              </a:spcBef>
            </a:pPr>
            <a:r>
              <a:rPr lang="en-US" b="true" sz="3999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Problemática principal: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40877" y="514350"/>
            <a:ext cx="10739831" cy="9258300"/>
            <a:chOff x="0" y="0"/>
            <a:chExt cx="2828544" cy="2438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8544" cy="2438619"/>
            </a:xfrm>
            <a:custGeom>
              <a:avLst/>
              <a:gdLst/>
              <a:ahLst/>
              <a:cxnLst/>
              <a:rect r="r" b="b" t="t" l="l"/>
              <a:pathLst>
                <a:path h="2438619" w="2828544">
                  <a:moveTo>
                    <a:pt x="2828544" y="16580"/>
                  </a:moveTo>
                  <a:lnTo>
                    <a:pt x="2828544" y="2422040"/>
                  </a:lnTo>
                  <a:cubicBezTo>
                    <a:pt x="2828544" y="2426437"/>
                    <a:pt x="2826797" y="2430654"/>
                    <a:pt x="2823688" y="2433763"/>
                  </a:cubicBezTo>
                  <a:cubicBezTo>
                    <a:pt x="2820579" y="2436873"/>
                    <a:pt x="2816361" y="2438619"/>
                    <a:pt x="2811964" y="2438619"/>
                  </a:cubicBezTo>
                  <a:lnTo>
                    <a:pt x="16580" y="2438619"/>
                  </a:lnTo>
                  <a:cubicBezTo>
                    <a:pt x="12183" y="2438619"/>
                    <a:pt x="7965" y="2436873"/>
                    <a:pt x="4856" y="2433763"/>
                  </a:cubicBezTo>
                  <a:cubicBezTo>
                    <a:pt x="1747" y="2430654"/>
                    <a:pt x="0" y="2426437"/>
                    <a:pt x="0" y="2422040"/>
                  </a:cubicBezTo>
                  <a:lnTo>
                    <a:pt x="0" y="16580"/>
                  </a:lnTo>
                  <a:cubicBezTo>
                    <a:pt x="0" y="12183"/>
                    <a:pt x="1747" y="7965"/>
                    <a:pt x="4856" y="4856"/>
                  </a:cubicBezTo>
                  <a:cubicBezTo>
                    <a:pt x="7965" y="1747"/>
                    <a:pt x="12183" y="0"/>
                    <a:pt x="16580" y="0"/>
                  </a:cubicBezTo>
                  <a:lnTo>
                    <a:pt x="2811964" y="0"/>
                  </a:lnTo>
                  <a:cubicBezTo>
                    <a:pt x="2816361" y="0"/>
                    <a:pt x="2820579" y="1747"/>
                    <a:pt x="2823688" y="4856"/>
                  </a:cubicBezTo>
                  <a:cubicBezTo>
                    <a:pt x="2826797" y="7965"/>
                    <a:pt x="2828544" y="12183"/>
                    <a:pt x="2828544" y="1658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828544" cy="2514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5969" y="3909784"/>
            <a:ext cx="9548369" cy="1233316"/>
            <a:chOff x="0" y="0"/>
            <a:chExt cx="2398279" cy="30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98279" cy="309774"/>
            </a:xfrm>
            <a:custGeom>
              <a:avLst/>
              <a:gdLst/>
              <a:ahLst/>
              <a:cxnLst/>
              <a:rect r="r" b="b" t="t" l="l"/>
              <a:pathLst>
                <a:path h="309774" w="2398279">
                  <a:moveTo>
                    <a:pt x="0" y="0"/>
                  </a:moveTo>
                  <a:lnTo>
                    <a:pt x="2398279" y="0"/>
                  </a:lnTo>
                  <a:lnTo>
                    <a:pt x="2398279" y="309774"/>
                  </a:lnTo>
                  <a:lnTo>
                    <a:pt x="0" y="309774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398279" cy="376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40404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NutriFind es una plataforma web inteligente diseñada para cuidar el bolsillo y el tiempo del usuario.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4350" y="501322"/>
            <a:ext cx="6348228" cy="9271328"/>
            <a:chOff x="0" y="0"/>
            <a:chExt cx="983507" cy="1436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3507" cy="1436371"/>
            </a:xfrm>
            <a:custGeom>
              <a:avLst/>
              <a:gdLst/>
              <a:ahLst/>
              <a:cxnLst/>
              <a:rect r="r" b="b" t="t" l="l"/>
              <a:pathLst>
                <a:path h="1436371" w="983507">
                  <a:moveTo>
                    <a:pt x="26830" y="0"/>
                  </a:moveTo>
                  <a:lnTo>
                    <a:pt x="956677" y="0"/>
                  </a:lnTo>
                  <a:cubicBezTo>
                    <a:pt x="963792" y="0"/>
                    <a:pt x="970617" y="2827"/>
                    <a:pt x="975648" y="7858"/>
                  </a:cubicBezTo>
                  <a:cubicBezTo>
                    <a:pt x="980680" y="12890"/>
                    <a:pt x="983507" y="19714"/>
                    <a:pt x="983507" y="26830"/>
                  </a:cubicBezTo>
                  <a:lnTo>
                    <a:pt x="983507" y="1409541"/>
                  </a:lnTo>
                  <a:cubicBezTo>
                    <a:pt x="983507" y="1416657"/>
                    <a:pt x="980680" y="1423481"/>
                    <a:pt x="975648" y="1428513"/>
                  </a:cubicBezTo>
                  <a:cubicBezTo>
                    <a:pt x="970617" y="1433545"/>
                    <a:pt x="963792" y="1436371"/>
                    <a:pt x="956677" y="1436371"/>
                  </a:cubicBezTo>
                  <a:lnTo>
                    <a:pt x="26830" y="1436371"/>
                  </a:lnTo>
                  <a:cubicBezTo>
                    <a:pt x="19714" y="1436371"/>
                    <a:pt x="12890" y="1433545"/>
                    <a:pt x="7858" y="1428513"/>
                  </a:cubicBezTo>
                  <a:cubicBezTo>
                    <a:pt x="2827" y="1423481"/>
                    <a:pt x="0" y="1416657"/>
                    <a:pt x="0" y="1409541"/>
                  </a:cubicBezTo>
                  <a:lnTo>
                    <a:pt x="0" y="26830"/>
                  </a:lnTo>
                  <a:cubicBezTo>
                    <a:pt x="0" y="19714"/>
                    <a:pt x="2827" y="12890"/>
                    <a:pt x="7858" y="7858"/>
                  </a:cubicBezTo>
                  <a:cubicBezTo>
                    <a:pt x="12890" y="2827"/>
                    <a:pt x="19714" y="0"/>
                    <a:pt x="26830" y="0"/>
                  </a:cubicBezTo>
                  <a:close/>
                </a:path>
              </a:pathLst>
            </a:custGeom>
            <a:blipFill>
              <a:blip r:embed="rId2"/>
              <a:stretch>
                <a:fillRect l="-114327" t="0" r="-11432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55969" y="1510738"/>
            <a:ext cx="8225895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9"/>
              </a:lnSpc>
              <a:spcBef>
                <a:spcPct val="0"/>
              </a:spcBef>
            </a:pPr>
            <a:r>
              <a:rPr lang="en-US" b="true" sz="5499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La Solución:</a:t>
            </a:r>
            <a:r>
              <a:rPr lang="en-US" b="true" sz="5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5499">
                <a:solidFill>
                  <a:srgbClr val="8DA1FF"/>
                </a:solidFill>
                <a:latin typeface="Poppins Bold"/>
                <a:ea typeface="Poppins Bold"/>
                <a:cs typeface="Poppins Bold"/>
                <a:sym typeface="Poppins Bold"/>
              </a:rPr>
              <a:t>NutriFind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55969" y="2842236"/>
            <a:ext cx="456833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6B83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Producto Mínimo Viable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55969" y="5396704"/>
            <a:ext cx="10291136" cy="19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6"/>
              </a:lnSpc>
            </a:pPr>
            <a:r>
              <a:rPr lang="en-US" b="true" sz="2726">
                <a:solidFill>
                  <a:srgbClr val="40404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Permite crear perfiles personalizados para filtrar alimentos orgánicos o sin gluten, visualizar variaciones, comparar precios en tiempo real entre múltiples tiendas y redirigir a la compra final.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45659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351521" y="1028700"/>
          <a:ext cx="7721376" cy="8611722"/>
        </p:xfrm>
        <a:graphic>
          <a:graphicData uri="http://schemas.openxmlformats.org/drawingml/2006/table">
            <a:tbl>
              <a:tblPr/>
              <a:tblGrid>
                <a:gridCol w="721026"/>
                <a:gridCol w="7000350"/>
              </a:tblGrid>
              <a:tr h="335873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2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500" strike="noStrike" u="none">
                          <a:solidFill>
                            <a:srgbClr val="4040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2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500">
                          <a:solidFill>
                            <a:srgbClr val="2E2E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Busca</a:t>
                      </a:r>
                      <a:r>
                        <a:rPr lang="en-US" sz="2500" strike="noStrike" u="none">
                          <a:solidFill>
                            <a:srgbClr val="2E2E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mos fortalecer tanto nuestros conocimientos dentro del desarrollo web como los de gestión de proyectos, utilizando nuevas tecnologías  y generando conocimientos esenciales para llevar a nuestros CVs y tener mejor entrada al mundo laboral.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036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2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500">
                          <a:solidFill>
                            <a:srgbClr val="4040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2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500">
                          <a:solidFill>
                            <a:srgbClr val="2E2E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Buscamos fortalecer nuestras habilidades de gestión de proyectos aplicando una metodología ágil en un caso real, generando así experiencia concreta en gestión ágil.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262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2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500" strike="noStrike" u="none">
                          <a:solidFill>
                            <a:srgbClr val="4040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2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500">
                          <a:solidFill>
                            <a:srgbClr val="2E2E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 este proyecto buscamos desafiar nuestros conocimientos de distintas disciplinas adquiridas a lo largo de nuestros estudios y buscar crecimiento en el desarrollo de este proyecto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8924885" y="1041544"/>
            <a:ext cx="219115" cy="2938088"/>
            <a:chOff x="0" y="0"/>
            <a:chExt cx="40411" cy="5418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411" cy="541867"/>
            </a:xfrm>
            <a:custGeom>
              <a:avLst/>
              <a:gdLst/>
              <a:ahLst/>
              <a:cxnLst/>
              <a:rect r="r" b="b" t="t" l="l"/>
              <a:pathLst>
                <a:path h="541867" w="40411">
                  <a:moveTo>
                    <a:pt x="0" y="0"/>
                  </a:moveTo>
                  <a:lnTo>
                    <a:pt x="40411" y="0"/>
                  </a:lnTo>
                  <a:lnTo>
                    <a:pt x="40411" y="541867"/>
                  </a:lnTo>
                  <a:lnTo>
                    <a:pt x="0" y="541867"/>
                  </a:lnTo>
                  <a:close/>
                </a:path>
              </a:pathLst>
            </a:custGeom>
            <a:solidFill>
              <a:srgbClr val="8DA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0411" cy="570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24885" y="6702334"/>
            <a:ext cx="219115" cy="2938088"/>
            <a:chOff x="0" y="0"/>
            <a:chExt cx="40411" cy="5418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411" cy="541867"/>
            </a:xfrm>
            <a:custGeom>
              <a:avLst/>
              <a:gdLst/>
              <a:ahLst/>
              <a:cxnLst/>
              <a:rect r="r" b="b" t="t" l="l"/>
              <a:pathLst>
                <a:path h="541867" w="40411">
                  <a:moveTo>
                    <a:pt x="0" y="0"/>
                  </a:moveTo>
                  <a:lnTo>
                    <a:pt x="40411" y="0"/>
                  </a:lnTo>
                  <a:lnTo>
                    <a:pt x="40411" y="541867"/>
                  </a:lnTo>
                  <a:lnTo>
                    <a:pt x="0" y="541867"/>
                  </a:lnTo>
                  <a:close/>
                </a:path>
              </a:pathLst>
            </a:custGeom>
            <a:solidFill>
              <a:srgbClr val="8DA1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0411" cy="570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24885" y="3969895"/>
            <a:ext cx="219115" cy="2938088"/>
            <a:chOff x="0" y="0"/>
            <a:chExt cx="40411" cy="5418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411" cy="541867"/>
            </a:xfrm>
            <a:custGeom>
              <a:avLst/>
              <a:gdLst/>
              <a:ahLst/>
              <a:cxnLst/>
              <a:rect r="r" b="b" t="t" l="l"/>
              <a:pathLst>
                <a:path h="541867" w="40411">
                  <a:moveTo>
                    <a:pt x="0" y="0"/>
                  </a:moveTo>
                  <a:lnTo>
                    <a:pt x="40411" y="0"/>
                  </a:lnTo>
                  <a:lnTo>
                    <a:pt x="40411" y="541867"/>
                  </a:lnTo>
                  <a:lnTo>
                    <a:pt x="0" y="541867"/>
                  </a:lnTo>
                  <a:close/>
                </a:path>
              </a:pathLst>
            </a:custGeom>
            <a:solidFill>
              <a:srgbClr val="6B83F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0411" cy="570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4377938"/>
            <a:ext cx="7476863" cy="4205735"/>
          </a:xfrm>
          <a:custGeom>
            <a:avLst/>
            <a:gdLst/>
            <a:ahLst/>
            <a:cxnLst/>
            <a:rect r="r" b="b" t="t" l="l"/>
            <a:pathLst>
              <a:path h="4205735" w="7476863">
                <a:moveTo>
                  <a:pt x="0" y="0"/>
                </a:moveTo>
                <a:lnTo>
                  <a:pt x="7476863" y="0"/>
                </a:lnTo>
                <a:lnTo>
                  <a:pt x="7476863" y="4205736"/>
                </a:lnTo>
                <a:lnTo>
                  <a:pt x="0" y="4205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692282"/>
            <a:ext cx="7316001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Intereses Profesionales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4066" y="1305470"/>
            <a:ext cx="191294" cy="2565037"/>
            <a:chOff x="0" y="0"/>
            <a:chExt cx="40411" cy="5418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11" cy="541867"/>
            </a:xfrm>
            <a:custGeom>
              <a:avLst/>
              <a:gdLst/>
              <a:ahLst/>
              <a:cxnLst/>
              <a:rect r="r" b="b" t="t" l="l"/>
              <a:pathLst>
                <a:path h="541867" w="40411">
                  <a:moveTo>
                    <a:pt x="0" y="0"/>
                  </a:moveTo>
                  <a:lnTo>
                    <a:pt x="40411" y="0"/>
                  </a:lnTo>
                  <a:lnTo>
                    <a:pt x="40411" y="541867"/>
                  </a:lnTo>
                  <a:lnTo>
                    <a:pt x="0" y="541867"/>
                  </a:lnTo>
                  <a:close/>
                </a:path>
              </a:pathLst>
            </a:custGeom>
            <a:solidFill>
              <a:srgbClr val="8DA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0411" cy="570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74066" y="3860982"/>
            <a:ext cx="191294" cy="2565037"/>
            <a:chOff x="0" y="0"/>
            <a:chExt cx="40411" cy="5418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411" cy="541867"/>
            </a:xfrm>
            <a:custGeom>
              <a:avLst/>
              <a:gdLst/>
              <a:ahLst/>
              <a:cxnLst/>
              <a:rect r="r" b="b" t="t" l="l"/>
              <a:pathLst>
                <a:path h="541867" w="40411">
                  <a:moveTo>
                    <a:pt x="0" y="0"/>
                  </a:moveTo>
                  <a:lnTo>
                    <a:pt x="40411" y="0"/>
                  </a:lnTo>
                  <a:lnTo>
                    <a:pt x="40411" y="541867"/>
                  </a:lnTo>
                  <a:lnTo>
                    <a:pt x="0" y="541867"/>
                  </a:lnTo>
                  <a:close/>
                </a:path>
              </a:pathLst>
            </a:custGeom>
            <a:solidFill>
              <a:srgbClr val="6B83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0411" cy="570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4066" y="6426018"/>
            <a:ext cx="191294" cy="2565037"/>
            <a:chOff x="0" y="0"/>
            <a:chExt cx="40411" cy="5418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411" cy="541867"/>
            </a:xfrm>
            <a:custGeom>
              <a:avLst/>
              <a:gdLst/>
              <a:ahLst/>
              <a:cxnLst/>
              <a:rect r="r" b="b" t="t" l="l"/>
              <a:pathLst>
                <a:path h="541867" w="40411">
                  <a:moveTo>
                    <a:pt x="0" y="0"/>
                  </a:moveTo>
                  <a:lnTo>
                    <a:pt x="40411" y="0"/>
                  </a:lnTo>
                  <a:lnTo>
                    <a:pt x="40411" y="541867"/>
                  </a:lnTo>
                  <a:lnTo>
                    <a:pt x="0" y="541867"/>
                  </a:lnTo>
                  <a:close/>
                </a:path>
              </a:pathLst>
            </a:custGeom>
            <a:solidFill>
              <a:srgbClr val="8DA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0411" cy="570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195170" y="3860982"/>
            <a:ext cx="4576165" cy="5056536"/>
          </a:xfrm>
          <a:custGeom>
            <a:avLst/>
            <a:gdLst/>
            <a:ahLst/>
            <a:cxnLst/>
            <a:rect r="r" b="b" t="t" l="l"/>
            <a:pathLst>
              <a:path h="5056536" w="4576165">
                <a:moveTo>
                  <a:pt x="0" y="0"/>
                </a:moveTo>
                <a:lnTo>
                  <a:pt x="4576165" y="0"/>
                </a:lnTo>
                <a:lnTo>
                  <a:pt x="4576165" y="5056535"/>
                </a:lnTo>
                <a:lnTo>
                  <a:pt x="0" y="5056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lgDash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9826212" y="1305470"/>
            <a:ext cx="6826663" cy="38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b="true" sz="2625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Reactivo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26212" y="3870507"/>
            <a:ext cx="6826663" cy="38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b="true" sz="2625">
                <a:solidFill>
                  <a:srgbClr val="6B83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&amp; BD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26212" y="1843047"/>
            <a:ext cx="6826663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Desarrollado con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199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Astro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para carga ultra rápida y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199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Tailwind</a:t>
            </a:r>
            <a:r>
              <a:rPr lang="en-US" sz="2199">
                <a:solidFill>
                  <a:srgbClr val="5271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199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CSS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para garantizar un diseño responsivo, moderno y escalable en cualquier dispositivo.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26212" y="4408084"/>
            <a:ext cx="6826663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API RESTful de alto rendimiento construida en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199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FastAPI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2199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Integrada con una base de datos relacional robusta en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199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PostgreSQL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9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alojada en </a:t>
            </a:r>
            <a:r>
              <a:rPr lang="en-US" b="true" sz="2199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Supabase.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26212" y="6432508"/>
            <a:ext cx="6826663" cy="38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b="true" sz="2625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Infraestructura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6212" y="6970085"/>
            <a:ext cx="6826663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Despliegue continuo y gestión de seguridad perimetral operada a través de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199">
                <a:solidFill>
                  <a:srgbClr val="527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Cloudflare Pages,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optimizando tiempos de configuración y protegiendo contra ataques.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6474" y="1330138"/>
            <a:ext cx="7021625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y Tecnologías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37534" y="498072"/>
            <a:ext cx="10143174" cy="9274578"/>
            <a:chOff x="0" y="0"/>
            <a:chExt cx="2828544" cy="25866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8544" cy="2586607"/>
            </a:xfrm>
            <a:custGeom>
              <a:avLst/>
              <a:gdLst/>
              <a:ahLst/>
              <a:cxnLst/>
              <a:rect r="r" b="b" t="t" l="l"/>
              <a:pathLst>
                <a:path h="2586607" w="2828544">
                  <a:moveTo>
                    <a:pt x="2828544" y="17555"/>
                  </a:moveTo>
                  <a:lnTo>
                    <a:pt x="2828544" y="2569052"/>
                  </a:lnTo>
                  <a:cubicBezTo>
                    <a:pt x="2828544" y="2573708"/>
                    <a:pt x="2826695" y="2578173"/>
                    <a:pt x="2823402" y="2581466"/>
                  </a:cubicBezTo>
                  <a:cubicBezTo>
                    <a:pt x="2820110" y="2584758"/>
                    <a:pt x="2815645" y="2586607"/>
                    <a:pt x="2810989" y="2586607"/>
                  </a:cubicBezTo>
                  <a:lnTo>
                    <a:pt x="17555" y="2586607"/>
                  </a:lnTo>
                  <a:cubicBezTo>
                    <a:pt x="7860" y="2586607"/>
                    <a:pt x="0" y="2578748"/>
                    <a:pt x="0" y="2569052"/>
                  </a:cubicBezTo>
                  <a:lnTo>
                    <a:pt x="0" y="17555"/>
                  </a:lnTo>
                  <a:cubicBezTo>
                    <a:pt x="0" y="7860"/>
                    <a:pt x="7860" y="0"/>
                    <a:pt x="17555" y="0"/>
                  </a:cubicBezTo>
                  <a:lnTo>
                    <a:pt x="2810989" y="0"/>
                  </a:lnTo>
                  <a:cubicBezTo>
                    <a:pt x="2820684" y="0"/>
                    <a:pt x="2828544" y="7860"/>
                    <a:pt x="2828544" y="17555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28544" cy="2643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0929" y="2681685"/>
            <a:ext cx="6254699" cy="625469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EF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00376" y="2942466"/>
            <a:ext cx="5675806" cy="5733137"/>
          </a:xfrm>
          <a:prstGeom prst="rect">
            <a:avLst/>
          </a:prstGeom>
          <a:ln cap="sq">
            <a:noFill/>
            <a:prstDash val="solid"/>
          </a:ln>
        </p:spPr>
      </p:pic>
      <p:sp>
        <p:nvSpPr>
          <p:cNvPr name="Freeform 9" id="9"/>
          <p:cNvSpPr/>
          <p:nvPr/>
        </p:nvSpPr>
        <p:spPr>
          <a:xfrm flipH="false" flipV="false" rot="5400000">
            <a:off x="8063842" y="5209999"/>
            <a:ext cx="209712" cy="171964"/>
          </a:xfrm>
          <a:custGeom>
            <a:avLst/>
            <a:gdLst/>
            <a:ahLst/>
            <a:cxnLst/>
            <a:rect r="r" b="b" t="t" l="l"/>
            <a:pathLst>
              <a:path h="171964" w="209712">
                <a:moveTo>
                  <a:pt x="0" y="0"/>
                </a:moveTo>
                <a:lnTo>
                  <a:pt x="209712" y="0"/>
                </a:lnTo>
                <a:lnTo>
                  <a:pt x="209712" y="171964"/>
                </a:lnTo>
                <a:lnTo>
                  <a:pt x="0" y="171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101766" y="1338302"/>
            <a:ext cx="8201795" cy="73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98"/>
              </a:lnSpc>
              <a:spcBef>
                <a:spcPct val="0"/>
              </a:spcBef>
            </a:pPr>
            <a:r>
              <a:rPr lang="en-US" b="true" sz="5194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Scraping Automatizado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01766" y="2718230"/>
            <a:ext cx="9157534" cy="119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266" b="true">
                <a:solidFill>
                  <a:srgbClr val="2E2E2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núcleo de valor de NutriFind reside en su motor de extracción de datos, diseñado para alimentar el dashboard de historial de precios sin intervención manual.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02829" y="4548373"/>
            <a:ext cx="9157534" cy="421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b="true" sz="2644">
                <a:solidFill>
                  <a:srgbClr val="40404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Implementación conjunta de BeautifulSoup y Playwright para procesar páginas de supermercados con contenido dinámico.</a:t>
            </a:r>
          </a:p>
          <a:p>
            <a:pPr algn="l">
              <a:lnSpc>
                <a:spcPts val="3702"/>
              </a:lnSpc>
            </a:pPr>
          </a:p>
          <a:p>
            <a:pPr algn="l">
              <a:lnSpc>
                <a:spcPts val="3702"/>
              </a:lnSpc>
            </a:pPr>
            <a:r>
              <a:rPr lang="en-US" b="true" sz="2644">
                <a:solidFill>
                  <a:srgbClr val="40404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Ejecución programada para mantener el catálogo fresco.</a:t>
            </a:r>
          </a:p>
          <a:p>
            <a:pPr algn="l">
              <a:lnSpc>
                <a:spcPts val="3702"/>
              </a:lnSpc>
            </a:pPr>
          </a:p>
          <a:p>
            <a:pPr algn="l">
              <a:lnSpc>
                <a:spcPts val="3702"/>
              </a:lnSpc>
            </a:pPr>
            <a:r>
              <a:rPr lang="en-US" b="true" sz="2644">
                <a:solidFill>
                  <a:srgbClr val="40404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Pipeline de normalización de datos previo a la inserción en PostgreSQL.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6274" y="601855"/>
            <a:ext cx="6864010" cy="162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true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Motor de Recopilación de Datos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400000">
            <a:off x="7996910" y="6861587"/>
            <a:ext cx="209712" cy="171964"/>
          </a:xfrm>
          <a:custGeom>
            <a:avLst/>
            <a:gdLst/>
            <a:ahLst/>
            <a:cxnLst/>
            <a:rect r="r" b="b" t="t" l="l"/>
            <a:pathLst>
              <a:path h="171964" w="209712">
                <a:moveTo>
                  <a:pt x="0" y="0"/>
                </a:moveTo>
                <a:lnTo>
                  <a:pt x="209712" y="0"/>
                </a:lnTo>
                <a:lnTo>
                  <a:pt x="209712" y="171964"/>
                </a:lnTo>
                <a:lnTo>
                  <a:pt x="0" y="171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7996910" y="8265308"/>
            <a:ext cx="209712" cy="171964"/>
          </a:xfrm>
          <a:custGeom>
            <a:avLst/>
            <a:gdLst/>
            <a:ahLst/>
            <a:cxnLst/>
            <a:rect r="r" b="b" t="t" l="l"/>
            <a:pathLst>
              <a:path h="171964" w="209712">
                <a:moveTo>
                  <a:pt x="0" y="0"/>
                </a:moveTo>
                <a:lnTo>
                  <a:pt x="209712" y="0"/>
                </a:lnTo>
                <a:lnTo>
                  <a:pt x="209712" y="171964"/>
                </a:lnTo>
                <a:lnTo>
                  <a:pt x="0" y="171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25422" y="514350"/>
            <a:ext cx="6348228" cy="9271328"/>
            <a:chOff x="0" y="0"/>
            <a:chExt cx="983507" cy="1436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3507" cy="1436371"/>
            </a:xfrm>
            <a:custGeom>
              <a:avLst/>
              <a:gdLst/>
              <a:ahLst/>
              <a:cxnLst/>
              <a:rect r="r" b="b" t="t" l="l"/>
              <a:pathLst>
                <a:path h="1436371" w="983507">
                  <a:moveTo>
                    <a:pt x="0" y="0"/>
                  </a:moveTo>
                  <a:lnTo>
                    <a:pt x="983507" y="0"/>
                  </a:lnTo>
                  <a:lnTo>
                    <a:pt x="983507" y="1436371"/>
                  </a:lnTo>
                  <a:lnTo>
                    <a:pt x="0" y="1436371"/>
                  </a:lnTo>
                  <a:close/>
                </a:path>
              </a:pathLst>
            </a:custGeom>
            <a:blipFill>
              <a:blip r:embed="rId2"/>
              <a:stretch>
                <a:fillRect l="-24970" t="0" r="-6975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25422" y="514350"/>
            <a:ext cx="6348228" cy="9258300"/>
            <a:chOff x="0" y="0"/>
            <a:chExt cx="1671961" cy="243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1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1961">
                  <a:moveTo>
                    <a:pt x="0" y="0"/>
                  </a:moveTo>
                  <a:lnTo>
                    <a:pt x="1671961" y="0"/>
                  </a:lnTo>
                  <a:lnTo>
                    <a:pt x="1671961" y="2438400"/>
                  </a:lnTo>
                  <a:lnTo>
                    <a:pt x="0" y="2438400"/>
                  </a:lnTo>
                  <a:close/>
                </a:path>
              </a:pathLst>
            </a:custGeom>
            <a:gradFill rotWithShape="true">
              <a:gsLst>
                <a:gs pos="0">
                  <a:srgbClr val="5271FF">
                    <a:alpha val="50000"/>
                  </a:srgbClr>
                </a:gs>
                <a:gs pos="100000">
                  <a:srgbClr val="FFA5FF">
                    <a:alpha val="5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671961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324626"/>
            <a:ext cx="9001694" cy="149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9"/>
              </a:lnSpc>
              <a:spcBef>
                <a:spcPct val="0"/>
              </a:spcBef>
            </a:pPr>
            <a:r>
              <a:rPr lang="en-US" b="true" sz="5499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Factibilidad y Metodología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943276"/>
            <a:ext cx="8225895" cy="179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500">
                <a:solidFill>
                  <a:srgbClr val="404040"/>
                </a:solidFill>
                <a:latin typeface="Poppins"/>
                <a:ea typeface="Poppins"/>
                <a:cs typeface="Poppins"/>
                <a:sym typeface="Poppins"/>
              </a:rPr>
              <a:t>Mediante nuestro Poker Planning estimamos un esfuerzo concentrado de desarrollo desde la semana 5 hasta la 14.</a:t>
            </a:r>
          </a:p>
          <a:p>
            <a:pPr algn="l">
              <a:lnSpc>
                <a:spcPts val="2825"/>
              </a:lnSpc>
            </a:pPr>
            <a:r>
              <a:rPr lang="en-US" sz="2500">
                <a:solidFill>
                  <a:srgbClr val="404040"/>
                </a:solidFill>
                <a:latin typeface="Poppins"/>
                <a:ea typeface="Poppins"/>
                <a:cs typeface="Poppins"/>
                <a:sym typeface="Poppins"/>
              </a:rPr>
              <a:t>Con la completitud técnica dentro del marco de las 16 semanas de la asignatura.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270812"/>
            <a:ext cx="8225895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  <a:spcBef>
                <a:spcPct val="0"/>
              </a:spcBef>
            </a:pPr>
            <a:r>
              <a:rPr lang="en-US" b="true" sz="3999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¿Por qué es factible</a:t>
            </a: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3999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NutriFind</a:t>
            </a:r>
            <a:r>
              <a:rPr lang="en-US" b="true" sz="3999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880582"/>
            <a:ext cx="8225895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  <a:spcBef>
                <a:spcPct val="0"/>
              </a:spcBef>
            </a:pPr>
            <a:r>
              <a:rPr lang="en-US" b="true" sz="3999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¿Por qué metodología ágil?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553047"/>
            <a:ext cx="8225895" cy="214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500">
                <a:solidFill>
                  <a:srgbClr val="404040"/>
                </a:solidFill>
                <a:latin typeface="Poppins"/>
                <a:ea typeface="Poppins"/>
                <a:cs typeface="Poppins"/>
                <a:sym typeface="Poppins"/>
              </a:rPr>
              <a:t>Esta metodología fue escogida en conjunto por el equipo por cómo abordaremos las épicas del proyecto, mediante un enfoque iterativo e incremental, permitiendo evaluar el avance y asegurar entregas funcionales y adaptables en cada semana.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96244" y="514350"/>
            <a:ext cx="6577406" cy="9271328"/>
            <a:chOff x="0" y="0"/>
            <a:chExt cx="1019012" cy="1436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9012" cy="1436371"/>
            </a:xfrm>
            <a:custGeom>
              <a:avLst/>
              <a:gdLst/>
              <a:ahLst/>
              <a:cxnLst/>
              <a:rect r="r" b="b" t="t" l="l"/>
              <a:pathLst>
                <a:path h="1436371" w="1019012">
                  <a:moveTo>
                    <a:pt x="0" y="0"/>
                  </a:moveTo>
                  <a:lnTo>
                    <a:pt x="1019012" y="0"/>
                  </a:lnTo>
                  <a:lnTo>
                    <a:pt x="1019012" y="1436371"/>
                  </a:lnTo>
                  <a:lnTo>
                    <a:pt x="0" y="1436371"/>
                  </a:lnTo>
                  <a:close/>
                </a:path>
              </a:pathLst>
            </a:custGeom>
            <a:blipFill>
              <a:blip r:embed="rId2"/>
              <a:stretch>
                <a:fillRect l="0" t="-1805" r="-66592" b="-180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324626"/>
            <a:ext cx="9001694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9"/>
              </a:lnSpc>
              <a:spcBef>
                <a:spcPct val="0"/>
              </a:spcBef>
            </a:pPr>
            <a:r>
              <a:rPr lang="en-US" b="true" sz="5499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Evidencias &amp; KPIs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62116"/>
            <a:ext cx="9661129" cy="1712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936" b="true">
                <a:solidFill>
                  <a:srgbClr val="40404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Evidenciaremos con la propia página web completada; la finalización de nuestro proyecto </a:t>
            </a:r>
            <a:r>
              <a:rPr lang="en-US" sz="2936" b="true">
                <a:solidFill>
                  <a:srgbClr val="5271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NutriFind </a:t>
            </a:r>
            <a:r>
              <a:rPr lang="en-US" sz="2936" b="true">
                <a:solidFill>
                  <a:srgbClr val="40404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contará con una prueba en vivo de todas sus características funcionales.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75199"/>
            <a:ext cx="9661129" cy="67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1"/>
              </a:lnSpc>
              <a:spcBef>
                <a:spcPct val="0"/>
              </a:spcBef>
            </a:pPr>
            <a:r>
              <a:rPr lang="en-US" b="true" sz="4697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Finalización del Proyecto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433589"/>
            <a:ext cx="9661129" cy="67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1"/>
              </a:lnSpc>
              <a:spcBef>
                <a:spcPct val="0"/>
              </a:spcBef>
            </a:pPr>
            <a:r>
              <a:rPr lang="en-US" b="true" sz="4697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¿Cómo reconocer un éxito?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220506"/>
            <a:ext cx="9661129" cy="1712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936" b="true">
                <a:solidFill>
                  <a:srgbClr val="40404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Nuestro proyecto </a:t>
            </a:r>
            <a:r>
              <a:rPr lang="en-US" sz="2936" b="true">
                <a:solidFill>
                  <a:srgbClr val="5271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NutriFind </a:t>
            </a:r>
            <a:r>
              <a:rPr lang="en-US" sz="2936" b="true">
                <a:solidFill>
                  <a:srgbClr val="40404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 tener implementada una propia mecánica de dashboard, el reconocimiento de nuestros KPIs se facilita para la adaptación y reconocimiento.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45659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668898" y="3460636"/>
          <a:ext cx="16230600" cy="7922641"/>
        </p:xfrm>
        <a:graphic>
          <a:graphicData uri="http://schemas.openxmlformats.org/presentationml/2006/ole">
            <p:oleObj imgW="19469100" imgH="111633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20450" y="928289"/>
            <a:ext cx="1664709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PLAN DE TRABAJO - POKER PLANNING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19391" y="1428089"/>
            <a:ext cx="1144921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2E2E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7805" y="3057650"/>
            <a:ext cx="14652390" cy="463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true">
                <a:solidFill>
                  <a:srgbClr val="5271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“ NutriFind</a:t>
            </a:r>
            <a:r>
              <a:rPr lang="en-US" b="true" sz="5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5200" b="true">
                <a:solidFill>
                  <a:srgbClr val="40404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nace de la necesidad de solucionar un problema de alcance familiar. Nuestra meta es que la plataforma sea escalable, convirtiéndose en una solución real a nivel social y comunitario.</a:t>
            </a:r>
            <a:r>
              <a:rPr lang="en-US" b="true" sz="5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5200" b="true">
                <a:solidFill>
                  <a:srgbClr val="5271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“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45659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6481425" y="3075418"/>
            <a:ext cx="0" cy="58735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12036" y="1894900"/>
            <a:ext cx="12962109" cy="48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0"/>
              </a:lnSpc>
            </a:pPr>
            <a:r>
              <a:rPr lang="en-US" sz="13635" b="true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 por su</a:t>
            </a:r>
          </a:p>
          <a:p>
            <a:pPr algn="l">
              <a:lnSpc>
                <a:spcPts val="19090"/>
              </a:lnSpc>
            </a:pPr>
            <a:r>
              <a:rPr lang="en-US" sz="13635" b="true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atención</a:t>
            </a:r>
          </a:p>
        </p:txBody>
      </p:sp>
      <p:sp>
        <p:nvSpPr>
          <p:cNvPr name="TextBox 7" id="7"/>
          <p:cNvSpPr txBox="true"/>
          <p:nvPr/>
        </p:nvSpPr>
        <p:spPr>
          <a:xfrm rot="5400000">
            <a:off x="15707836" y="1940832"/>
            <a:ext cx="163036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6B83F4"/>
                </a:solidFill>
                <a:latin typeface="Poppins Bold"/>
                <a:ea typeface="Poppins Bold"/>
                <a:cs typeface="Poppins Bold"/>
                <a:sym typeface="Poppins Bold"/>
              </a:rPr>
              <a:t>NUTRIFIND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DAHThsd5q_I</dc:identifier>
  <dcterms:modified xsi:type="dcterms:W3CDTF">2011-08-01T06:04:30Z</dcterms:modified>
  <cp:revision>1</cp:revision>
  <dc:title>Presentación NutriFind</dc:title>
</cp:coreProperties>
</file>